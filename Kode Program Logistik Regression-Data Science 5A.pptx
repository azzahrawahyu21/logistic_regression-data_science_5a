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omorrow" charset="1" panose="00000000000000000000"/>
      <p:regular r:id="rId18"/>
    </p:embeddedFont>
    <p:embeddedFont>
      <p:font typeface="Tomorrow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https://doi.org/10.21009/JSA.09102"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https://colab.research.google.com/drive/1Lk1j6RwBPYjcNJOBAYbLa2Lgohf_l81a?usp=sharing"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45893" y="2815290"/>
            <a:ext cx="13796213" cy="4656421"/>
            <a:chOff x="0" y="0"/>
            <a:chExt cx="3633571" cy="1226382"/>
          </a:xfrm>
        </p:grpSpPr>
        <p:sp>
          <p:nvSpPr>
            <p:cNvPr name="Freeform 4" id="4"/>
            <p:cNvSpPr/>
            <p:nvPr/>
          </p:nvSpPr>
          <p:spPr>
            <a:xfrm flipH="false" flipV="false" rot="0">
              <a:off x="0" y="0"/>
              <a:ext cx="3633570" cy="1226382"/>
            </a:xfrm>
            <a:custGeom>
              <a:avLst/>
              <a:gdLst/>
              <a:ahLst/>
              <a:cxnLst/>
              <a:rect r="r" b="b" t="t" l="l"/>
              <a:pathLst>
                <a:path h="1226382" w="3633570">
                  <a:moveTo>
                    <a:pt x="0" y="0"/>
                  </a:moveTo>
                  <a:lnTo>
                    <a:pt x="3633570" y="0"/>
                  </a:lnTo>
                  <a:lnTo>
                    <a:pt x="3633570" y="1226382"/>
                  </a:lnTo>
                  <a:lnTo>
                    <a:pt x="0" y="1226382"/>
                  </a:lnTo>
                  <a:close/>
                </a:path>
              </a:pathLst>
            </a:custGeom>
            <a:solidFill>
              <a:srgbClr val="FFFFFF">
                <a:alpha val="10980"/>
              </a:srgbClr>
            </a:solidFill>
          </p:spPr>
        </p:sp>
        <p:sp>
          <p:nvSpPr>
            <p:cNvPr name="TextBox 5" id="5"/>
            <p:cNvSpPr txBox="true"/>
            <p:nvPr/>
          </p:nvSpPr>
          <p:spPr>
            <a:xfrm>
              <a:off x="0" y="-47625"/>
              <a:ext cx="3633571" cy="127400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304065">
            <a:off x="1156142" y="1120447"/>
            <a:ext cx="2686742" cy="3001440"/>
          </a:xfrm>
          <a:custGeom>
            <a:avLst/>
            <a:gdLst/>
            <a:ahLst/>
            <a:cxnLst/>
            <a:rect r="r" b="b" t="t" l="l"/>
            <a:pathLst>
              <a:path h="3001440" w="2686742">
                <a:moveTo>
                  <a:pt x="0" y="0"/>
                </a:moveTo>
                <a:lnTo>
                  <a:pt x="2686741" y="0"/>
                </a:lnTo>
                <a:lnTo>
                  <a:pt x="2686741" y="3001441"/>
                </a:lnTo>
                <a:lnTo>
                  <a:pt x="0" y="3001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41450">
            <a:off x="14149825" y="6104506"/>
            <a:ext cx="2615300" cy="2761785"/>
          </a:xfrm>
          <a:custGeom>
            <a:avLst/>
            <a:gdLst/>
            <a:ahLst/>
            <a:cxnLst/>
            <a:rect r="r" b="b" t="t" l="l"/>
            <a:pathLst>
              <a:path h="2761785" w="2615300">
                <a:moveTo>
                  <a:pt x="0" y="0"/>
                </a:moveTo>
                <a:lnTo>
                  <a:pt x="2615300" y="0"/>
                </a:lnTo>
                <a:lnTo>
                  <a:pt x="2615300" y="2761785"/>
                </a:lnTo>
                <a:lnTo>
                  <a:pt x="0" y="27617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974608" y="5112397"/>
            <a:ext cx="12400129" cy="873199"/>
          </a:xfrm>
          <a:prstGeom prst="rect">
            <a:avLst/>
          </a:prstGeom>
        </p:spPr>
        <p:txBody>
          <a:bodyPr anchor="t" rtlCol="false" tIns="0" lIns="0" bIns="0" rIns="0">
            <a:spAutoFit/>
          </a:bodyPr>
          <a:lstStyle/>
          <a:p>
            <a:pPr algn="ctr">
              <a:lnSpc>
                <a:spcPts val="7000"/>
              </a:lnSpc>
            </a:pPr>
            <a:r>
              <a:rPr lang="en-US" sz="5000">
                <a:solidFill>
                  <a:srgbClr val="FFFFFF"/>
                </a:solidFill>
                <a:latin typeface="Tomorrow"/>
                <a:ea typeface="Tomorrow"/>
                <a:cs typeface="Tomorrow"/>
                <a:sym typeface="Tomorrow"/>
              </a:rPr>
              <a:t>Model Machine Learning</a:t>
            </a:r>
          </a:p>
        </p:txBody>
      </p:sp>
      <p:sp>
        <p:nvSpPr>
          <p:cNvPr name="TextBox 9" id="9"/>
          <p:cNvSpPr txBox="true"/>
          <p:nvPr/>
        </p:nvSpPr>
        <p:spPr>
          <a:xfrm rot="0">
            <a:off x="1954353" y="4168054"/>
            <a:ext cx="14379293" cy="104775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FFFFFF"/>
                </a:solidFill>
                <a:latin typeface="Tomorrow Bold"/>
                <a:ea typeface="Tomorrow Bold"/>
                <a:cs typeface="Tomorrow Bold"/>
                <a:sym typeface="Tomorrow Bold"/>
              </a:rPr>
              <a:t>LOGISTIK REGRESSION</a:t>
            </a:r>
          </a:p>
        </p:txBody>
      </p:sp>
      <p:sp>
        <p:nvSpPr>
          <p:cNvPr name="Freeform 10" id="10"/>
          <p:cNvSpPr/>
          <p:nvPr/>
        </p:nvSpPr>
        <p:spPr>
          <a:xfrm flipH="false" flipV="false" rot="0">
            <a:off x="-496166" y="7993829"/>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sp>
        <p:nvSpPr>
          <p:cNvPr name="Freeform 11" id="11"/>
          <p:cNvSpPr/>
          <p:nvPr/>
        </p:nvSpPr>
        <p:spPr>
          <a:xfrm flipH="false" flipV="false" rot="-10800000">
            <a:off x="14192633" y="-235771"/>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grpSp>
        <p:nvGrpSpPr>
          <p:cNvPr name="Group 12" id="12"/>
          <p:cNvGrpSpPr/>
          <p:nvPr/>
        </p:nvGrpSpPr>
        <p:grpSpPr>
          <a:xfrm rot="0">
            <a:off x="15729015" y="4202312"/>
            <a:ext cx="626183" cy="620693"/>
            <a:chOff x="0" y="0"/>
            <a:chExt cx="164921" cy="163475"/>
          </a:xfrm>
        </p:grpSpPr>
        <p:sp>
          <p:nvSpPr>
            <p:cNvPr name="Freeform 13" id="13"/>
            <p:cNvSpPr/>
            <p:nvPr/>
          </p:nvSpPr>
          <p:spPr>
            <a:xfrm flipH="false" flipV="false" rot="0">
              <a:off x="0" y="0"/>
              <a:ext cx="164921" cy="163475"/>
            </a:xfrm>
            <a:custGeom>
              <a:avLst/>
              <a:gdLst/>
              <a:ahLst/>
              <a:cxnLst/>
              <a:rect r="r" b="b" t="t" l="l"/>
              <a:pathLst>
                <a:path h="163475" w="164921">
                  <a:moveTo>
                    <a:pt x="0" y="0"/>
                  </a:moveTo>
                  <a:lnTo>
                    <a:pt x="164921" y="0"/>
                  </a:lnTo>
                  <a:lnTo>
                    <a:pt x="164921" y="163475"/>
                  </a:lnTo>
                  <a:lnTo>
                    <a:pt x="0" y="163475"/>
                  </a:lnTo>
                  <a:close/>
                </a:path>
              </a:pathLst>
            </a:custGeom>
            <a:solidFill>
              <a:srgbClr val="0054C5"/>
            </a:solidFill>
          </p:spPr>
        </p:sp>
        <p:sp>
          <p:nvSpPr>
            <p:cNvPr name="TextBox 14" id="14"/>
            <p:cNvSpPr txBox="true"/>
            <p:nvPr/>
          </p:nvSpPr>
          <p:spPr>
            <a:xfrm>
              <a:off x="0" y="-47625"/>
              <a:ext cx="164921" cy="2111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787048" y="5143500"/>
            <a:ext cx="418486" cy="397926"/>
            <a:chOff x="0" y="0"/>
            <a:chExt cx="110219" cy="104803"/>
          </a:xfrm>
        </p:grpSpPr>
        <p:sp>
          <p:nvSpPr>
            <p:cNvPr name="Freeform 16" id="16"/>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17" id="17"/>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936712" y="5668780"/>
            <a:ext cx="291131" cy="270571"/>
            <a:chOff x="0" y="0"/>
            <a:chExt cx="76677" cy="71261"/>
          </a:xfrm>
        </p:grpSpPr>
        <p:sp>
          <p:nvSpPr>
            <p:cNvPr name="Freeform 19" id="19"/>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0" id="20"/>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036650" y="6169297"/>
            <a:ext cx="418486" cy="397926"/>
            <a:chOff x="0" y="0"/>
            <a:chExt cx="110219" cy="104803"/>
          </a:xfrm>
        </p:grpSpPr>
        <p:sp>
          <p:nvSpPr>
            <p:cNvPr name="Freeform 22" id="22"/>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23" id="23"/>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652804" y="6886583"/>
            <a:ext cx="291131" cy="270571"/>
            <a:chOff x="0" y="0"/>
            <a:chExt cx="76677" cy="71261"/>
          </a:xfrm>
        </p:grpSpPr>
        <p:sp>
          <p:nvSpPr>
            <p:cNvPr name="Freeform 25" id="25"/>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6" id="26"/>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2036650" y="7350113"/>
            <a:ext cx="291131" cy="270571"/>
            <a:chOff x="0" y="0"/>
            <a:chExt cx="76677" cy="71261"/>
          </a:xfrm>
        </p:grpSpPr>
        <p:sp>
          <p:nvSpPr>
            <p:cNvPr name="Freeform 28" id="28"/>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9" id="29"/>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6022790" y="9201150"/>
            <a:ext cx="6242420" cy="869950"/>
          </a:xfrm>
          <a:prstGeom prst="rect">
            <a:avLst/>
          </a:prstGeom>
        </p:spPr>
        <p:txBody>
          <a:bodyPr anchor="t" rtlCol="false" tIns="0" lIns="0" bIns="0" rIns="0">
            <a:spAutoFit/>
          </a:bodyPr>
          <a:lstStyle/>
          <a:p>
            <a:pPr algn="ctr">
              <a:lnSpc>
                <a:spcPts val="3499"/>
              </a:lnSpc>
            </a:pPr>
            <a:r>
              <a:rPr lang="en-US" sz="2499">
                <a:solidFill>
                  <a:srgbClr val="FFFFFF"/>
                </a:solidFill>
                <a:latin typeface="Tomorrow"/>
                <a:ea typeface="Tomorrow"/>
                <a:cs typeface="Tomorrow"/>
                <a:sym typeface="Tomorrow"/>
              </a:rPr>
              <a:t>Dosen Pengampu Mata Kuliah :</a:t>
            </a:r>
          </a:p>
          <a:p>
            <a:pPr algn="ctr">
              <a:lnSpc>
                <a:spcPts val="3499"/>
              </a:lnSpc>
            </a:pPr>
            <a:r>
              <a:rPr lang="en-US" sz="2499">
                <a:solidFill>
                  <a:srgbClr val="FFFFFF"/>
                </a:solidFill>
                <a:latin typeface="Tomorrow"/>
                <a:ea typeface="Tomorrow"/>
                <a:cs typeface="Tomorrow"/>
                <a:sym typeface="Tomorrow"/>
              </a:rPr>
              <a:t>Gus Nanang Syaefuddin S. Kom, M. Kom</a:t>
            </a:r>
          </a:p>
        </p:txBody>
      </p:sp>
      <p:sp>
        <p:nvSpPr>
          <p:cNvPr name="TextBox 31" id="31"/>
          <p:cNvSpPr txBox="true"/>
          <p:nvPr/>
        </p:nvSpPr>
        <p:spPr>
          <a:xfrm rot="0">
            <a:off x="2943935" y="3605412"/>
            <a:ext cx="12400129" cy="596900"/>
          </a:xfrm>
          <a:prstGeom prst="rect">
            <a:avLst/>
          </a:prstGeom>
        </p:spPr>
        <p:txBody>
          <a:bodyPr anchor="t" rtlCol="false" tIns="0" lIns="0" bIns="0" rIns="0">
            <a:spAutoFit/>
          </a:bodyPr>
          <a:lstStyle/>
          <a:p>
            <a:pPr algn="ctr">
              <a:lnSpc>
                <a:spcPts val="4900"/>
              </a:lnSpc>
            </a:pPr>
            <a:r>
              <a:rPr lang="en-US" sz="3500">
                <a:solidFill>
                  <a:srgbClr val="FFFFFF"/>
                </a:solidFill>
                <a:latin typeface="Tomorrow"/>
                <a:ea typeface="Tomorrow"/>
                <a:cs typeface="Tomorrow"/>
                <a:sym typeface="Tomorrow"/>
              </a:rPr>
              <a:t>Kode Program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824528" y="2654593"/>
            <a:ext cx="7419834" cy="5954269"/>
            <a:chOff x="0" y="0"/>
            <a:chExt cx="1954195" cy="1568203"/>
          </a:xfrm>
        </p:grpSpPr>
        <p:sp>
          <p:nvSpPr>
            <p:cNvPr name="Freeform 4" id="4"/>
            <p:cNvSpPr/>
            <p:nvPr/>
          </p:nvSpPr>
          <p:spPr>
            <a:xfrm flipH="false" flipV="false" rot="0">
              <a:off x="0" y="0"/>
              <a:ext cx="1954195" cy="1568203"/>
            </a:xfrm>
            <a:custGeom>
              <a:avLst/>
              <a:gdLst/>
              <a:ahLst/>
              <a:cxnLst/>
              <a:rect r="r" b="b" t="t" l="l"/>
              <a:pathLst>
                <a:path h="1568203" w="1954195">
                  <a:moveTo>
                    <a:pt x="0" y="0"/>
                  </a:moveTo>
                  <a:lnTo>
                    <a:pt x="1954195" y="0"/>
                  </a:lnTo>
                  <a:lnTo>
                    <a:pt x="1954195" y="1568203"/>
                  </a:lnTo>
                  <a:lnTo>
                    <a:pt x="0" y="1568203"/>
                  </a:lnTo>
                  <a:close/>
                </a:path>
              </a:pathLst>
            </a:custGeom>
            <a:solidFill>
              <a:srgbClr val="FFFFFF">
                <a:alpha val="10980"/>
              </a:srgbClr>
            </a:solidFill>
          </p:spPr>
        </p:sp>
        <p:sp>
          <p:nvSpPr>
            <p:cNvPr name="TextBox 5" id="5"/>
            <p:cNvSpPr txBox="true"/>
            <p:nvPr/>
          </p:nvSpPr>
          <p:spPr>
            <a:xfrm>
              <a:off x="0" y="-47625"/>
              <a:ext cx="1954195" cy="161582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174072" y="3989915"/>
            <a:ext cx="6720746" cy="880127"/>
          </a:xfrm>
          <a:prstGeom prst="rect">
            <a:avLst/>
          </a:prstGeom>
        </p:spPr>
        <p:txBody>
          <a:bodyPr anchor="t" rtlCol="false" tIns="0" lIns="0" bIns="0" rIns="0">
            <a:spAutoFit/>
          </a:bodyPr>
          <a:lstStyle/>
          <a:p>
            <a:pPr algn="l" marL="0" indent="0" lvl="0">
              <a:lnSpc>
                <a:spcPts val="7139"/>
              </a:lnSpc>
              <a:spcBef>
                <a:spcPct val="0"/>
              </a:spcBef>
            </a:pPr>
            <a:r>
              <a:rPr lang="en-US" b="true" sz="5099">
                <a:solidFill>
                  <a:srgbClr val="FFFFFF"/>
                </a:solidFill>
                <a:latin typeface="Tomorrow Bold"/>
                <a:ea typeface="Tomorrow Bold"/>
                <a:cs typeface="Tomorrow Bold"/>
                <a:sym typeface="Tomorrow Bold"/>
              </a:rPr>
              <a:t>Anggota Kelompok:</a:t>
            </a:r>
          </a:p>
        </p:txBody>
      </p:sp>
      <p:sp>
        <p:nvSpPr>
          <p:cNvPr name="Freeform 7" id="7"/>
          <p:cNvSpPr/>
          <p:nvPr/>
        </p:nvSpPr>
        <p:spPr>
          <a:xfrm flipH="false" flipV="false" rot="0">
            <a:off x="10314226" y="3176179"/>
            <a:ext cx="5973130" cy="4911097"/>
          </a:xfrm>
          <a:custGeom>
            <a:avLst/>
            <a:gdLst/>
            <a:ahLst/>
            <a:cxnLst/>
            <a:rect r="r" b="b" t="t" l="l"/>
            <a:pathLst>
              <a:path h="4911097" w="5973130">
                <a:moveTo>
                  <a:pt x="0" y="0"/>
                </a:moveTo>
                <a:lnTo>
                  <a:pt x="5973130" y="0"/>
                </a:lnTo>
                <a:lnTo>
                  <a:pt x="5973130" y="4911097"/>
                </a:lnTo>
                <a:lnTo>
                  <a:pt x="0" y="49110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1983496" y="-868048"/>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5"/>
            <a:stretch>
              <a:fillRect l="0" t="0" r="0" b="0"/>
            </a:stretch>
          </a:blipFill>
        </p:spPr>
      </p:sp>
      <p:grpSp>
        <p:nvGrpSpPr>
          <p:cNvPr name="Group 9" id="9"/>
          <p:cNvGrpSpPr/>
          <p:nvPr/>
        </p:nvGrpSpPr>
        <p:grpSpPr>
          <a:xfrm rot="0">
            <a:off x="9052685" y="7188490"/>
            <a:ext cx="310192" cy="299142"/>
            <a:chOff x="0" y="0"/>
            <a:chExt cx="81697" cy="78786"/>
          </a:xfrm>
        </p:grpSpPr>
        <p:sp>
          <p:nvSpPr>
            <p:cNvPr name="Freeform 10" id="1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1" id="1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817027" y="7851090"/>
            <a:ext cx="310192" cy="299142"/>
            <a:chOff x="0" y="0"/>
            <a:chExt cx="81697" cy="78786"/>
          </a:xfrm>
        </p:grpSpPr>
        <p:sp>
          <p:nvSpPr>
            <p:cNvPr name="Freeform 13" id="1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4" id="1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50506" y="2256306"/>
            <a:ext cx="747321" cy="768415"/>
            <a:chOff x="0" y="0"/>
            <a:chExt cx="196825" cy="202381"/>
          </a:xfrm>
        </p:grpSpPr>
        <p:sp>
          <p:nvSpPr>
            <p:cNvPr name="Freeform 16" id="16"/>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7" id="17"/>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715608" y="3528171"/>
            <a:ext cx="626183" cy="566519"/>
            <a:chOff x="0" y="0"/>
            <a:chExt cx="164921" cy="149207"/>
          </a:xfrm>
        </p:grpSpPr>
        <p:sp>
          <p:nvSpPr>
            <p:cNvPr name="Freeform 19" id="19"/>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20" id="20"/>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369038" y="1916294"/>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572375" y="5005219"/>
            <a:ext cx="5924139" cy="2091689"/>
          </a:xfrm>
          <a:prstGeom prst="rect">
            <a:avLst/>
          </a:prstGeom>
        </p:spPr>
        <p:txBody>
          <a:bodyPr anchor="t" rtlCol="false" tIns="0" lIns="0" bIns="0" rIns="0">
            <a:spAutoFit/>
          </a:bodyPr>
          <a:lstStyle/>
          <a:p>
            <a:pPr algn="l">
              <a:lnSpc>
                <a:spcPts val="4200"/>
              </a:lnSpc>
            </a:pPr>
            <a:r>
              <a:rPr lang="en-US" sz="2100">
                <a:solidFill>
                  <a:srgbClr val="FFFFFF"/>
                </a:solidFill>
                <a:latin typeface="Tomorrow"/>
                <a:ea typeface="Tomorrow"/>
                <a:cs typeface="Tomorrow"/>
                <a:sym typeface="Tomorrow"/>
              </a:rPr>
              <a:t>Azzahra Wahyu Olivia                    (233307006)</a:t>
            </a:r>
          </a:p>
          <a:p>
            <a:pPr algn="l">
              <a:lnSpc>
                <a:spcPts val="4200"/>
              </a:lnSpc>
            </a:pPr>
            <a:r>
              <a:rPr lang="en-US" sz="2100">
                <a:solidFill>
                  <a:srgbClr val="FFFFFF"/>
                </a:solidFill>
                <a:latin typeface="Tomorrow"/>
                <a:ea typeface="Tomorrow"/>
                <a:cs typeface="Tomorrow"/>
                <a:sym typeface="Tomorrow"/>
              </a:rPr>
              <a:t>Elin Akma Pratama                         (233307009)</a:t>
            </a:r>
          </a:p>
          <a:p>
            <a:pPr algn="l">
              <a:lnSpc>
                <a:spcPts val="4200"/>
              </a:lnSpc>
            </a:pPr>
            <a:r>
              <a:rPr lang="en-US" sz="2100">
                <a:solidFill>
                  <a:srgbClr val="FFFFFF"/>
                </a:solidFill>
                <a:latin typeface="Tomorrow"/>
                <a:ea typeface="Tomorrow"/>
                <a:cs typeface="Tomorrow"/>
                <a:sym typeface="Tomorrow"/>
              </a:rPr>
              <a:t>Ergi Zenila Marta Sasmige          (233307010)</a:t>
            </a:r>
          </a:p>
          <a:p>
            <a:pPr algn="l">
              <a:lnSpc>
                <a:spcPts val="4200"/>
              </a:lnSpc>
            </a:pPr>
            <a:r>
              <a:rPr lang="en-US" sz="2100">
                <a:solidFill>
                  <a:srgbClr val="FFFFFF"/>
                </a:solidFill>
                <a:latin typeface="Tomorrow"/>
                <a:ea typeface="Tomorrow"/>
                <a:cs typeface="Tomorrow"/>
                <a:sym typeface="Tomorrow"/>
              </a:rPr>
              <a:t>Tria Wilujeng Rahayu Br S           (233307028)</a:t>
            </a:r>
          </a:p>
        </p:txBody>
      </p:sp>
    </p:spTree>
  </p:cSld>
  <p:clrMapOvr>
    <a:masterClrMapping/>
  </p:clrMapOvr>
  <p:transition spd="slow">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55735" y="1473720"/>
            <a:ext cx="14353671" cy="8103536"/>
            <a:chOff x="0" y="0"/>
            <a:chExt cx="3780391" cy="2134265"/>
          </a:xfrm>
        </p:grpSpPr>
        <p:sp>
          <p:nvSpPr>
            <p:cNvPr name="Freeform 4" id="4"/>
            <p:cNvSpPr/>
            <p:nvPr/>
          </p:nvSpPr>
          <p:spPr>
            <a:xfrm flipH="false" flipV="false" rot="0">
              <a:off x="0" y="0"/>
              <a:ext cx="3780391" cy="2134264"/>
            </a:xfrm>
            <a:custGeom>
              <a:avLst/>
              <a:gdLst/>
              <a:ahLst/>
              <a:cxnLst/>
              <a:rect r="r" b="b" t="t" l="l"/>
              <a:pathLst>
                <a:path h="2134264" w="3780391">
                  <a:moveTo>
                    <a:pt x="0" y="0"/>
                  </a:moveTo>
                  <a:lnTo>
                    <a:pt x="3780391" y="0"/>
                  </a:lnTo>
                  <a:lnTo>
                    <a:pt x="3780391" y="2134264"/>
                  </a:lnTo>
                  <a:lnTo>
                    <a:pt x="0" y="2134264"/>
                  </a:lnTo>
                  <a:close/>
                </a:path>
              </a:pathLst>
            </a:custGeom>
            <a:solidFill>
              <a:srgbClr val="FFFFFF">
                <a:alpha val="10980"/>
              </a:srgbClr>
            </a:solidFill>
          </p:spPr>
        </p:sp>
        <p:sp>
          <p:nvSpPr>
            <p:cNvPr name="TextBox 5" id="5"/>
            <p:cNvSpPr txBox="true"/>
            <p:nvPr/>
          </p:nvSpPr>
          <p:spPr>
            <a:xfrm>
              <a:off x="0" y="-47625"/>
              <a:ext cx="3780391" cy="218189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958182" y="450718"/>
            <a:ext cx="9996011"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Contoh kasus</a:t>
            </a:r>
          </a:p>
        </p:txBody>
      </p:sp>
      <p:sp>
        <p:nvSpPr>
          <p:cNvPr name="TextBox 7" id="7"/>
          <p:cNvSpPr txBox="true"/>
          <p:nvPr/>
        </p:nvSpPr>
        <p:spPr>
          <a:xfrm rot="0">
            <a:off x="1244365" y="1684449"/>
            <a:ext cx="12526906" cy="895985"/>
          </a:xfrm>
          <a:prstGeom prst="rect">
            <a:avLst/>
          </a:prstGeom>
        </p:spPr>
        <p:txBody>
          <a:bodyPr anchor="t" rtlCol="false" tIns="0" lIns="0" bIns="0" rIns="0">
            <a:spAutoFit/>
          </a:bodyPr>
          <a:lstStyle/>
          <a:p>
            <a:pPr algn="ctr">
              <a:lnSpc>
                <a:spcPts val="3640"/>
              </a:lnSpc>
            </a:pPr>
            <a:r>
              <a:rPr lang="en-US" sz="2600">
                <a:solidFill>
                  <a:srgbClr val="FFFFFF"/>
                </a:solidFill>
                <a:latin typeface="Tomorrow"/>
                <a:ea typeface="Tomorrow"/>
                <a:cs typeface="Tomorrow"/>
                <a:sym typeface="Tomorrow"/>
              </a:rPr>
              <a:t>Prediksi apakah seseorang memiliki diabetes (Diagnose: 0 atau 1) berdasarkan variabel klinis dan faktor risiko.</a:t>
            </a:r>
          </a:p>
        </p:txBody>
      </p:sp>
      <p:sp>
        <p:nvSpPr>
          <p:cNvPr name="Freeform 8" id="8"/>
          <p:cNvSpPr/>
          <p:nvPr/>
        </p:nvSpPr>
        <p:spPr>
          <a:xfrm flipH="false" flipV="false" rot="0">
            <a:off x="14104248" y="5220840"/>
            <a:ext cx="3929234" cy="4149314"/>
          </a:xfrm>
          <a:custGeom>
            <a:avLst/>
            <a:gdLst/>
            <a:ahLst/>
            <a:cxnLst/>
            <a:rect r="r" b="b" t="t" l="l"/>
            <a:pathLst>
              <a:path h="4149314" w="3929234">
                <a:moveTo>
                  <a:pt x="0" y="0"/>
                </a:moveTo>
                <a:lnTo>
                  <a:pt x="3929234" y="0"/>
                </a:lnTo>
                <a:lnTo>
                  <a:pt x="3929234" y="4149314"/>
                </a:lnTo>
                <a:lnTo>
                  <a:pt x="0" y="41493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10" id="10"/>
          <p:cNvGrpSpPr/>
          <p:nvPr/>
        </p:nvGrpSpPr>
        <p:grpSpPr>
          <a:xfrm rot="0">
            <a:off x="870704" y="7189743"/>
            <a:ext cx="747321" cy="768415"/>
            <a:chOff x="0" y="0"/>
            <a:chExt cx="196825" cy="202381"/>
          </a:xfrm>
        </p:grpSpPr>
        <p:sp>
          <p:nvSpPr>
            <p:cNvPr name="Freeform 11" id="11"/>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2" id="12"/>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951511" y="9386037"/>
            <a:ext cx="626183" cy="566519"/>
            <a:chOff x="0" y="0"/>
            <a:chExt cx="164921" cy="149207"/>
          </a:xfrm>
        </p:grpSpPr>
        <p:sp>
          <p:nvSpPr>
            <p:cNvPr name="Freeform 14" id="14"/>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5" id="15"/>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270217" y="9370154"/>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579665" y="2006683"/>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4344007" y="2669282"/>
            <a:ext cx="310192" cy="299142"/>
            <a:chOff x="0" y="0"/>
            <a:chExt cx="81697" cy="78786"/>
          </a:xfrm>
        </p:grpSpPr>
        <p:sp>
          <p:nvSpPr>
            <p:cNvPr name="Freeform 23" id="2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4" id="2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272167" y="3127206"/>
            <a:ext cx="5825020" cy="1589405"/>
          </a:xfrm>
          <a:prstGeom prst="rect">
            <a:avLst/>
          </a:prstGeom>
        </p:spPr>
        <p:txBody>
          <a:bodyPr anchor="t" rtlCol="false" tIns="0" lIns="0" bIns="0" rIns="0">
            <a:spAutoFit/>
          </a:bodyPr>
          <a:lstStyle/>
          <a:p>
            <a:pPr algn="just">
              <a:lnSpc>
                <a:spcPts val="3220"/>
              </a:lnSpc>
            </a:pPr>
            <a:r>
              <a:rPr lang="en-US" sz="2300">
                <a:solidFill>
                  <a:srgbClr val="FFFFFF"/>
                </a:solidFill>
                <a:latin typeface="Tomorrow"/>
                <a:ea typeface="Tomorrow"/>
                <a:cs typeface="Tomorrow"/>
                <a:sym typeface="Tomorrow"/>
              </a:rPr>
              <a:t>Yang diprediksi oleh model:</a:t>
            </a:r>
          </a:p>
          <a:p>
            <a:pPr algn="just">
              <a:lnSpc>
                <a:spcPts val="3220"/>
              </a:lnSpc>
            </a:pPr>
            <a:r>
              <a:rPr lang="en-US" sz="2300">
                <a:solidFill>
                  <a:srgbClr val="FFFFFF"/>
                </a:solidFill>
                <a:latin typeface="Tomorrow"/>
                <a:ea typeface="Tomorrow"/>
                <a:cs typeface="Tomorrow"/>
                <a:sym typeface="Tomorrow"/>
              </a:rPr>
              <a:t>Target (Label) “Diagnose”</a:t>
            </a:r>
          </a:p>
          <a:p>
            <a:pPr algn="just">
              <a:lnSpc>
                <a:spcPts val="3220"/>
              </a:lnSpc>
            </a:pPr>
            <a:r>
              <a:rPr lang="en-US" sz="2300">
                <a:solidFill>
                  <a:srgbClr val="FFFFFF"/>
                </a:solidFill>
                <a:latin typeface="Tomorrow"/>
                <a:ea typeface="Tomorrow"/>
                <a:cs typeface="Tomorrow"/>
                <a:sym typeface="Tomorrow"/>
              </a:rPr>
              <a:t>0 = Tidak Diabetes</a:t>
            </a:r>
          </a:p>
          <a:p>
            <a:pPr algn="just">
              <a:lnSpc>
                <a:spcPts val="3220"/>
              </a:lnSpc>
            </a:pPr>
            <a:r>
              <a:rPr lang="en-US" sz="2300">
                <a:solidFill>
                  <a:srgbClr val="FFFFFF"/>
                </a:solidFill>
                <a:latin typeface="Tomorrow"/>
                <a:ea typeface="Tomorrow"/>
                <a:cs typeface="Tomorrow"/>
                <a:sym typeface="Tomorrow"/>
              </a:rPr>
              <a:t>1 = Diabetes</a:t>
            </a:r>
          </a:p>
        </p:txBody>
      </p:sp>
      <p:sp>
        <p:nvSpPr>
          <p:cNvPr name="TextBox 26" id="26"/>
          <p:cNvSpPr txBox="true"/>
          <p:nvPr/>
        </p:nvSpPr>
        <p:spPr>
          <a:xfrm rot="0">
            <a:off x="1244365" y="5114121"/>
            <a:ext cx="5825020" cy="3989705"/>
          </a:xfrm>
          <a:prstGeom prst="rect">
            <a:avLst/>
          </a:prstGeom>
        </p:spPr>
        <p:txBody>
          <a:bodyPr anchor="t" rtlCol="false" tIns="0" lIns="0" bIns="0" rIns="0">
            <a:spAutoFit/>
          </a:bodyPr>
          <a:lstStyle/>
          <a:p>
            <a:pPr algn="just">
              <a:lnSpc>
                <a:spcPts val="3220"/>
              </a:lnSpc>
            </a:pPr>
            <a:r>
              <a:rPr lang="en-US" sz="2300" b="true">
                <a:solidFill>
                  <a:srgbClr val="FFFFFF"/>
                </a:solidFill>
                <a:latin typeface="Tomorrow Bold"/>
                <a:ea typeface="Tomorrow Bold"/>
                <a:cs typeface="Tomorrow Bold"/>
                <a:sym typeface="Tomorrow Bold"/>
              </a:rPr>
              <a:t>Variabel klinis</a:t>
            </a:r>
            <a:r>
              <a:rPr lang="en-US" sz="2300">
                <a:solidFill>
                  <a:srgbClr val="FFFFFF"/>
                </a:solidFill>
                <a:latin typeface="Tomorrow"/>
                <a:ea typeface="Tomorrow"/>
                <a:cs typeface="Tomorrow"/>
                <a:sym typeface="Tomorrow"/>
              </a:rPr>
              <a:t> adalah data atau indikator kesehatan yang dapat diukur secara medis.</a:t>
            </a:r>
          </a:p>
          <a:p>
            <a:pPr algn="just">
              <a:lnSpc>
                <a:spcPts val="3220"/>
              </a:lnSpc>
            </a:pPr>
          </a:p>
          <a:p>
            <a:pPr algn="just">
              <a:lnSpc>
                <a:spcPts val="3220"/>
              </a:lnSpc>
            </a:pPr>
            <a:r>
              <a:rPr lang="en-US" sz="2300">
                <a:solidFill>
                  <a:srgbClr val="FFFFFF"/>
                </a:solidFill>
                <a:latin typeface="Tomorrow"/>
                <a:ea typeface="Tomorrow"/>
                <a:cs typeface="Tomorrow"/>
                <a:sym typeface="Tomorrow"/>
              </a:rPr>
              <a:t>Contoh kolom pada dataset :</a:t>
            </a:r>
          </a:p>
          <a:p>
            <a:pPr algn="just">
              <a:lnSpc>
                <a:spcPts val="3220"/>
              </a:lnSpc>
            </a:pPr>
            <a:r>
              <a:rPr lang="en-US" sz="2300">
                <a:solidFill>
                  <a:srgbClr val="FFFFFF"/>
                </a:solidFill>
                <a:latin typeface="Tomorrow"/>
                <a:ea typeface="Tomorrow"/>
                <a:cs typeface="Tomorrow"/>
                <a:sym typeface="Tomorrow"/>
              </a:rPr>
              <a:t>BMI → Indeks massa tubuh</a:t>
            </a:r>
          </a:p>
          <a:p>
            <a:pPr algn="just">
              <a:lnSpc>
                <a:spcPts val="3220"/>
              </a:lnSpc>
            </a:pPr>
            <a:r>
              <a:rPr lang="en-US" sz="2300">
                <a:solidFill>
                  <a:srgbClr val="FFFFFF"/>
                </a:solidFill>
                <a:latin typeface="Tomorrow"/>
                <a:ea typeface="Tomorrow"/>
                <a:cs typeface="Tomorrow"/>
                <a:sym typeface="Tomorrow"/>
              </a:rPr>
              <a:t>Glucose → Kadar gula darah</a:t>
            </a:r>
          </a:p>
          <a:p>
            <a:pPr algn="just">
              <a:lnSpc>
                <a:spcPts val="3220"/>
              </a:lnSpc>
            </a:pPr>
            <a:r>
              <a:rPr lang="en-US" sz="2300">
                <a:solidFill>
                  <a:srgbClr val="FFFFFF"/>
                </a:solidFill>
                <a:latin typeface="Tomorrow"/>
                <a:ea typeface="Tomorrow"/>
                <a:cs typeface="Tomorrow"/>
                <a:sym typeface="Tomorrow"/>
              </a:rPr>
              <a:t>Cholesterol → Kadar kolesterol</a:t>
            </a:r>
          </a:p>
          <a:p>
            <a:pPr algn="just">
              <a:lnSpc>
                <a:spcPts val="3220"/>
              </a:lnSpc>
            </a:pPr>
            <a:r>
              <a:rPr lang="en-US" sz="2300">
                <a:solidFill>
                  <a:srgbClr val="FFFFFF"/>
                </a:solidFill>
                <a:latin typeface="Tomorrow"/>
                <a:ea typeface="Tomorrow"/>
                <a:cs typeface="Tomorrow"/>
                <a:sym typeface="Tomorrow"/>
              </a:rPr>
              <a:t>BloodPressure → Tekanan darah</a:t>
            </a:r>
          </a:p>
          <a:p>
            <a:pPr algn="just">
              <a:lnSpc>
                <a:spcPts val="3220"/>
              </a:lnSpc>
            </a:pPr>
          </a:p>
        </p:txBody>
      </p:sp>
      <p:sp>
        <p:nvSpPr>
          <p:cNvPr name="TextBox 27" id="27"/>
          <p:cNvSpPr txBox="true"/>
          <p:nvPr/>
        </p:nvSpPr>
        <p:spPr>
          <a:xfrm rot="0">
            <a:off x="7946251" y="3113871"/>
            <a:ext cx="5825020" cy="5989955"/>
          </a:xfrm>
          <a:prstGeom prst="rect">
            <a:avLst/>
          </a:prstGeom>
        </p:spPr>
        <p:txBody>
          <a:bodyPr anchor="t" rtlCol="false" tIns="0" lIns="0" bIns="0" rIns="0">
            <a:spAutoFit/>
          </a:bodyPr>
          <a:lstStyle/>
          <a:p>
            <a:pPr algn="just">
              <a:lnSpc>
                <a:spcPts val="3220"/>
              </a:lnSpc>
            </a:pPr>
            <a:r>
              <a:rPr lang="en-US" sz="2300" b="true">
                <a:solidFill>
                  <a:srgbClr val="FFFFFF"/>
                </a:solidFill>
                <a:latin typeface="Tomorrow Bold"/>
                <a:ea typeface="Tomorrow Bold"/>
                <a:cs typeface="Tomorrow Bold"/>
                <a:sym typeface="Tomorrow Bold"/>
              </a:rPr>
              <a:t>Variabel risiko</a:t>
            </a:r>
            <a:r>
              <a:rPr lang="en-US" sz="2300">
                <a:solidFill>
                  <a:srgbClr val="FFFFFF"/>
                </a:solidFill>
                <a:latin typeface="Tomorrow"/>
                <a:ea typeface="Tomorrow"/>
                <a:cs typeface="Tomorrow"/>
                <a:sym typeface="Tomorrow"/>
              </a:rPr>
              <a:t> adalah faktor yang meningkatkan kemungkinan seseorang terkena penyakit, tetapi bukan hasil pengukuran medis langsung.</a:t>
            </a:r>
          </a:p>
          <a:p>
            <a:pPr algn="just">
              <a:lnSpc>
                <a:spcPts val="3220"/>
              </a:lnSpc>
            </a:pPr>
          </a:p>
          <a:p>
            <a:pPr algn="just">
              <a:lnSpc>
                <a:spcPts val="3220"/>
              </a:lnSpc>
            </a:pPr>
            <a:r>
              <a:rPr lang="en-US" sz="2300">
                <a:solidFill>
                  <a:srgbClr val="FFFFFF"/>
                </a:solidFill>
                <a:latin typeface="Tomorrow"/>
                <a:ea typeface="Tomorrow"/>
                <a:cs typeface="Tomorrow"/>
                <a:sym typeface="Tomorrow"/>
              </a:rPr>
              <a:t>Contoh kolom pada dataset:</a:t>
            </a:r>
          </a:p>
          <a:p>
            <a:pPr algn="just">
              <a:lnSpc>
                <a:spcPts val="3220"/>
              </a:lnSpc>
            </a:pPr>
            <a:r>
              <a:rPr lang="en-US" sz="2300">
                <a:solidFill>
                  <a:srgbClr val="FFFFFF"/>
                </a:solidFill>
                <a:latin typeface="Tomorrow"/>
                <a:ea typeface="Tomorrow"/>
                <a:cs typeface="Tomorrow"/>
                <a:sym typeface="Tomorrow"/>
              </a:rPr>
              <a:t>Age → Semakin tua, risiko diabetes lebih tinggi</a:t>
            </a:r>
          </a:p>
          <a:p>
            <a:pPr algn="just">
              <a:lnSpc>
                <a:spcPts val="3220"/>
              </a:lnSpc>
            </a:pPr>
            <a:r>
              <a:rPr lang="en-US" sz="2300">
                <a:solidFill>
                  <a:srgbClr val="FFFFFF"/>
                </a:solidFill>
                <a:latin typeface="Tomorrow"/>
                <a:ea typeface="Tomorrow"/>
                <a:cs typeface="Tomorrow"/>
                <a:sym typeface="Tomorrow"/>
              </a:rPr>
              <a:t>Gender → Laki-laki/wanita mungkin punya risiko berbeda</a:t>
            </a:r>
          </a:p>
          <a:p>
            <a:pPr algn="just">
              <a:lnSpc>
                <a:spcPts val="3220"/>
              </a:lnSpc>
            </a:pPr>
            <a:r>
              <a:rPr lang="en-US" sz="2300">
                <a:solidFill>
                  <a:srgbClr val="FFFFFF"/>
                </a:solidFill>
                <a:latin typeface="Tomorrow"/>
                <a:ea typeface="Tomorrow"/>
                <a:cs typeface="Tomorrow"/>
                <a:sym typeface="Tomorrow"/>
              </a:rPr>
              <a:t>Heredity → Riwayat keluarga dengan diabetes</a:t>
            </a:r>
          </a:p>
          <a:p>
            <a:pPr algn="just">
              <a:lnSpc>
                <a:spcPts val="3220"/>
              </a:lnSpc>
            </a:pPr>
            <a:r>
              <a:rPr lang="en-US" sz="2300">
                <a:solidFill>
                  <a:srgbClr val="FFFFFF"/>
                </a:solidFill>
                <a:latin typeface="Tomorrow"/>
                <a:ea typeface="Tomorrow"/>
                <a:cs typeface="Tomorrow"/>
                <a:sym typeface="Tomorrow"/>
              </a:rPr>
              <a:t>Smoking → Kebiasaan merokok sebagai pemicu risiko</a:t>
            </a:r>
          </a:p>
          <a:p>
            <a:pPr algn="just">
              <a:lnSpc>
                <a:spcPts val="3220"/>
              </a:lnSpc>
            </a:pPr>
          </a:p>
        </p:txBody>
      </p:sp>
    </p:spTree>
  </p:cSld>
  <p:clrMapOvr>
    <a:masterClrMapping/>
  </p:clrMapOvr>
  <p:transition spd="slow">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94347" y="2414387"/>
            <a:ext cx="13699307" cy="5991307"/>
            <a:chOff x="0" y="0"/>
            <a:chExt cx="3608048" cy="1577957"/>
          </a:xfrm>
        </p:grpSpPr>
        <p:sp>
          <p:nvSpPr>
            <p:cNvPr name="Freeform 4" id="4"/>
            <p:cNvSpPr/>
            <p:nvPr/>
          </p:nvSpPr>
          <p:spPr>
            <a:xfrm flipH="false" flipV="false" rot="0">
              <a:off x="0" y="0"/>
              <a:ext cx="3608048" cy="1577957"/>
            </a:xfrm>
            <a:custGeom>
              <a:avLst/>
              <a:gdLst/>
              <a:ahLst/>
              <a:cxnLst/>
              <a:rect r="r" b="b" t="t" l="l"/>
              <a:pathLst>
                <a:path h="1577957" w="3608048">
                  <a:moveTo>
                    <a:pt x="0" y="0"/>
                  </a:moveTo>
                  <a:lnTo>
                    <a:pt x="3608048" y="0"/>
                  </a:lnTo>
                  <a:lnTo>
                    <a:pt x="3608048" y="1577957"/>
                  </a:lnTo>
                  <a:lnTo>
                    <a:pt x="0" y="1577957"/>
                  </a:lnTo>
                  <a:close/>
                </a:path>
              </a:pathLst>
            </a:custGeom>
            <a:solidFill>
              <a:srgbClr val="FFFFFF">
                <a:alpha val="10980"/>
              </a:srgbClr>
            </a:solidFill>
          </p:spPr>
        </p:sp>
        <p:sp>
          <p:nvSpPr>
            <p:cNvPr name="TextBox 5" id="5"/>
            <p:cNvSpPr txBox="true"/>
            <p:nvPr/>
          </p:nvSpPr>
          <p:spPr>
            <a:xfrm>
              <a:off x="0" y="-47625"/>
              <a:ext cx="3608048" cy="162558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619993" y="2805531"/>
            <a:ext cx="747321" cy="768415"/>
            <a:chOff x="0" y="0"/>
            <a:chExt cx="196825" cy="202381"/>
          </a:xfrm>
        </p:grpSpPr>
        <p:sp>
          <p:nvSpPr>
            <p:cNvPr name="Freeform 7" id="7"/>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8" id="8"/>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633117" y="3873847"/>
            <a:ext cx="626183" cy="566519"/>
            <a:chOff x="0" y="0"/>
            <a:chExt cx="164921" cy="149207"/>
          </a:xfrm>
        </p:grpSpPr>
        <p:sp>
          <p:nvSpPr>
            <p:cNvPr name="Freeform 10" id="10"/>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1" id="11"/>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5386233" y="4128597"/>
            <a:ext cx="310192" cy="299142"/>
            <a:chOff x="0" y="0"/>
            <a:chExt cx="81697" cy="78786"/>
          </a:xfrm>
        </p:grpSpPr>
        <p:sp>
          <p:nvSpPr>
            <p:cNvPr name="Freeform 13" id="1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4" id="1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89900" y="2264816"/>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139251" y="3040167"/>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183796" y="2890596"/>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270123" y="7035517"/>
            <a:ext cx="6304504" cy="3522642"/>
          </a:xfrm>
          <a:custGeom>
            <a:avLst/>
            <a:gdLst/>
            <a:ahLst/>
            <a:cxnLst/>
            <a:rect r="r" b="b" t="t" l="l"/>
            <a:pathLst>
              <a:path h="3522642" w="6304504">
                <a:moveTo>
                  <a:pt x="0" y="0"/>
                </a:moveTo>
                <a:lnTo>
                  <a:pt x="6304503" y="0"/>
                </a:lnTo>
                <a:lnTo>
                  <a:pt x="6304503" y="3522641"/>
                </a:lnTo>
                <a:lnTo>
                  <a:pt x="0" y="3522641"/>
                </a:lnTo>
                <a:lnTo>
                  <a:pt x="0" y="0"/>
                </a:lnTo>
                <a:close/>
              </a:path>
            </a:pathLst>
          </a:custGeom>
          <a:blipFill>
            <a:blip r:embed="rId3"/>
            <a:stretch>
              <a:fillRect l="0" t="0" r="0" b="0"/>
            </a:stretch>
          </a:blipFill>
        </p:spPr>
      </p:sp>
      <p:sp>
        <p:nvSpPr>
          <p:cNvPr name="TextBox 25" id="25"/>
          <p:cNvSpPr txBox="true"/>
          <p:nvPr/>
        </p:nvSpPr>
        <p:spPr>
          <a:xfrm rot="0">
            <a:off x="2882129" y="3125652"/>
            <a:ext cx="12523743" cy="3060700"/>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Tomorrow"/>
                <a:ea typeface="Tomorrow"/>
                <a:cs typeface="Tomorrow"/>
                <a:sym typeface="Tomorrow"/>
              </a:rPr>
              <a:t>Pada kasus ini, variabel klinis seperti BMI, Glucose, Cholesterol, dan BloodPressure, serta variabel risiko seperti Age, Gender, Heredity, dan Smoking akan digunakan sebagai masukan untuk memprediksi kemungkinan seseorang terkena diabetes. Karena tujuan akhirnya adalah memutuskan apakah probabilitas tersebut melampaui batas tertentu untuk menentukan kelas 0 (tidak diabetes) atau 1 (diabetes), maka dari itu kasus ini termasuk ke dalam jenis </a:t>
            </a:r>
            <a:r>
              <a:rPr lang="en-US" b="true" sz="2499">
                <a:solidFill>
                  <a:srgbClr val="FFFFFF"/>
                </a:solidFill>
                <a:latin typeface="Tomorrow Bold"/>
                <a:ea typeface="Tomorrow Bold"/>
                <a:cs typeface="Tomorrow Bold"/>
                <a:sym typeface="Tomorrow Bold"/>
              </a:rPr>
              <a:t>Binary Logistic Regression</a:t>
            </a:r>
            <a:r>
              <a:rPr lang="en-US" sz="2499">
                <a:solidFill>
                  <a:srgbClr val="FFFFFF"/>
                </a:solidFill>
                <a:latin typeface="Tomorrow"/>
                <a:ea typeface="Tomorrow"/>
                <a:cs typeface="Tomorrow"/>
                <a:sym typeface="Tomorrow"/>
              </a:rPr>
              <a:t>.</a:t>
            </a:r>
          </a:p>
        </p:txBody>
      </p:sp>
      <p:sp>
        <p:nvSpPr>
          <p:cNvPr name="Freeform 26" id="26"/>
          <p:cNvSpPr/>
          <p:nvPr/>
        </p:nvSpPr>
        <p:spPr>
          <a:xfrm flipH="false" flipV="false" rot="0">
            <a:off x="14098130" y="6559347"/>
            <a:ext cx="3529482" cy="3186163"/>
          </a:xfrm>
          <a:custGeom>
            <a:avLst/>
            <a:gdLst/>
            <a:ahLst/>
            <a:cxnLst/>
            <a:rect r="r" b="b" t="t" l="l"/>
            <a:pathLst>
              <a:path h="3186163" w="3529482">
                <a:moveTo>
                  <a:pt x="0" y="0"/>
                </a:moveTo>
                <a:lnTo>
                  <a:pt x="3529482" y="0"/>
                </a:lnTo>
                <a:lnTo>
                  <a:pt x="3529482" y="3186163"/>
                </a:lnTo>
                <a:lnTo>
                  <a:pt x="0" y="31861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2862490" y="6587223"/>
            <a:ext cx="12523743" cy="431800"/>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Tomorrow"/>
                <a:ea typeface="Tomorrow"/>
                <a:cs typeface="Tomorrow"/>
                <a:sym typeface="Tomorrow"/>
              </a:rPr>
              <a:t>Jurnal : </a:t>
            </a:r>
            <a:r>
              <a:rPr lang="en-US" sz="2499" u="sng">
                <a:solidFill>
                  <a:srgbClr val="FFFFFF"/>
                </a:solidFill>
                <a:latin typeface="Tomorrow"/>
                <a:ea typeface="Tomorrow"/>
                <a:cs typeface="Tomorrow"/>
                <a:sym typeface="Tomorrow"/>
                <a:hlinkClick r:id="rId6" tooltip="https://doi.org/10.21009/JSA.09102"/>
              </a:rPr>
              <a:t>https://doi.org/10.21009/JSA.09102</a:t>
            </a:r>
          </a:p>
        </p:txBody>
      </p:sp>
    </p:spTree>
  </p:cSld>
  <p:clrMapOvr>
    <a:masterClrMapping/>
  </p:clrMapOvr>
  <p:transition spd="slow">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94347" y="1490163"/>
            <a:ext cx="13699307" cy="7306675"/>
            <a:chOff x="0" y="0"/>
            <a:chExt cx="3608048" cy="1924392"/>
          </a:xfrm>
        </p:grpSpPr>
        <p:sp>
          <p:nvSpPr>
            <p:cNvPr name="Freeform 4" id="4"/>
            <p:cNvSpPr/>
            <p:nvPr/>
          </p:nvSpPr>
          <p:spPr>
            <a:xfrm flipH="false" flipV="false" rot="0">
              <a:off x="0" y="0"/>
              <a:ext cx="3608048" cy="1924392"/>
            </a:xfrm>
            <a:custGeom>
              <a:avLst/>
              <a:gdLst/>
              <a:ahLst/>
              <a:cxnLst/>
              <a:rect r="r" b="b" t="t" l="l"/>
              <a:pathLst>
                <a:path h="1924392" w="3608048">
                  <a:moveTo>
                    <a:pt x="0" y="0"/>
                  </a:moveTo>
                  <a:lnTo>
                    <a:pt x="3608048" y="0"/>
                  </a:lnTo>
                  <a:lnTo>
                    <a:pt x="3608048" y="1924392"/>
                  </a:lnTo>
                  <a:lnTo>
                    <a:pt x="0" y="1924392"/>
                  </a:lnTo>
                  <a:close/>
                </a:path>
              </a:pathLst>
            </a:custGeom>
            <a:solidFill>
              <a:srgbClr val="FFFFFF">
                <a:alpha val="10980"/>
              </a:srgbClr>
            </a:solidFill>
          </p:spPr>
        </p:sp>
        <p:sp>
          <p:nvSpPr>
            <p:cNvPr name="TextBox 5" id="5"/>
            <p:cNvSpPr txBox="true"/>
            <p:nvPr/>
          </p:nvSpPr>
          <p:spPr>
            <a:xfrm>
              <a:off x="0" y="-47625"/>
              <a:ext cx="3608048"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43205" y="5143500"/>
            <a:ext cx="3313774" cy="3701917"/>
          </a:xfrm>
          <a:custGeom>
            <a:avLst/>
            <a:gdLst/>
            <a:ahLst/>
            <a:cxnLst/>
            <a:rect r="r" b="b" t="t" l="l"/>
            <a:pathLst>
              <a:path h="3701917" w="3313774">
                <a:moveTo>
                  <a:pt x="0" y="0"/>
                </a:moveTo>
                <a:lnTo>
                  <a:pt x="3313774" y="0"/>
                </a:lnTo>
                <a:lnTo>
                  <a:pt x="3313774" y="3701917"/>
                </a:lnTo>
                <a:lnTo>
                  <a:pt x="0" y="37019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5619993" y="280553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633117" y="3873847"/>
            <a:ext cx="626183" cy="566519"/>
            <a:chOff x="0" y="0"/>
            <a:chExt cx="164921" cy="149207"/>
          </a:xfrm>
        </p:grpSpPr>
        <p:sp>
          <p:nvSpPr>
            <p:cNvPr name="Freeform 11" id="11"/>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2" id="12"/>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5386233" y="4128597"/>
            <a:ext cx="310192" cy="299142"/>
            <a:chOff x="0" y="0"/>
            <a:chExt cx="81697" cy="78786"/>
          </a:xfrm>
        </p:grpSpPr>
        <p:sp>
          <p:nvSpPr>
            <p:cNvPr name="Freeform 14" id="1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5" id="1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89900" y="2264816"/>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2139251" y="3040167"/>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183796" y="2890596"/>
            <a:ext cx="310192" cy="299142"/>
            <a:chOff x="0" y="0"/>
            <a:chExt cx="81697" cy="78786"/>
          </a:xfrm>
        </p:grpSpPr>
        <p:sp>
          <p:nvSpPr>
            <p:cNvPr name="Freeform 23" id="2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4" id="2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true" flipV="false" rot="0">
            <a:off x="12233981" y="7084097"/>
            <a:ext cx="6304504" cy="3522642"/>
          </a:xfrm>
          <a:custGeom>
            <a:avLst/>
            <a:gdLst/>
            <a:ahLst/>
            <a:cxnLst/>
            <a:rect r="r" b="b" t="t" l="l"/>
            <a:pathLst>
              <a:path h="3522642" w="6304504">
                <a:moveTo>
                  <a:pt x="6304504" y="0"/>
                </a:moveTo>
                <a:lnTo>
                  <a:pt x="0" y="0"/>
                </a:lnTo>
                <a:lnTo>
                  <a:pt x="0" y="3522641"/>
                </a:lnTo>
                <a:lnTo>
                  <a:pt x="6304504" y="3522641"/>
                </a:lnTo>
                <a:lnTo>
                  <a:pt x="6304504" y="0"/>
                </a:lnTo>
                <a:close/>
              </a:path>
            </a:pathLst>
          </a:custGeom>
          <a:blipFill>
            <a:blip r:embed="rId5"/>
            <a:stretch>
              <a:fillRect l="0" t="0" r="0" b="0"/>
            </a:stretch>
          </a:blipFill>
        </p:spPr>
      </p:sp>
      <p:sp>
        <p:nvSpPr>
          <p:cNvPr name="Freeform 26" id="26"/>
          <p:cNvSpPr/>
          <p:nvPr/>
        </p:nvSpPr>
        <p:spPr>
          <a:xfrm flipH="false" flipV="false" rot="0">
            <a:off x="8877433" y="4891258"/>
            <a:ext cx="923433" cy="596034"/>
          </a:xfrm>
          <a:custGeom>
            <a:avLst/>
            <a:gdLst/>
            <a:ahLst/>
            <a:cxnLst/>
            <a:rect r="r" b="b" t="t" l="l"/>
            <a:pathLst>
              <a:path h="596034" w="923433">
                <a:moveTo>
                  <a:pt x="0" y="0"/>
                </a:moveTo>
                <a:lnTo>
                  <a:pt x="923433" y="0"/>
                </a:lnTo>
                <a:lnTo>
                  <a:pt x="923433" y="596034"/>
                </a:lnTo>
                <a:lnTo>
                  <a:pt x="0" y="5960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3478625" y="3081495"/>
            <a:ext cx="11330751"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Penerapan dan penjelasan kode</a:t>
            </a:r>
          </a:p>
        </p:txBody>
      </p:sp>
      <p:sp>
        <p:nvSpPr>
          <p:cNvPr name="TextBox 28" id="28"/>
          <p:cNvSpPr txBox="true"/>
          <p:nvPr/>
        </p:nvSpPr>
        <p:spPr>
          <a:xfrm rot="0">
            <a:off x="2862490" y="4506649"/>
            <a:ext cx="5652514" cy="1308100"/>
          </a:xfrm>
          <a:prstGeom prst="rect">
            <a:avLst/>
          </a:prstGeom>
        </p:spPr>
        <p:txBody>
          <a:bodyPr anchor="t" rtlCol="false" tIns="0" lIns="0" bIns="0" rIns="0">
            <a:spAutoFit/>
          </a:bodyPr>
          <a:lstStyle/>
          <a:p>
            <a:pPr algn="just">
              <a:lnSpc>
                <a:spcPts val="3499"/>
              </a:lnSpc>
            </a:pPr>
            <a:r>
              <a:rPr lang="en-US" sz="2499">
                <a:solidFill>
                  <a:srgbClr val="FFFFFF"/>
                </a:solidFill>
                <a:latin typeface="Tomorrow"/>
                <a:ea typeface="Tomorrow"/>
                <a:cs typeface="Tomorrow"/>
                <a:sym typeface="Tomorrow"/>
              </a:rPr>
              <a:t>Link penerapan kode </a:t>
            </a:r>
          </a:p>
          <a:p>
            <a:pPr algn="just">
              <a:lnSpc>
                <a:spcPts val="3499"/>
              </a:lnSpc>
              <a:spcBef>
                <a:spcPct val="0"/>
              </a:spcBef>
            </a:pPr>
            <a:r>
              <a:rPr lang="en-US" sz="2499">
                <a:solidFill>
                  <a:srgbClr val="FFFFFF"/>
                </a:solidFill>
                <a:latin typeface="Tomorrow"/>
                <a:ea typeface="Tomorrow"/>
                <a:cs typeface="Tomorrow"/>
                <a:sym typeface="Tomorrow"/>
              </a:rPr>
              <a:t>“Prediksi  apakah seseorang memiliki diabetes (1) atau tidak (0)”</a:t>
            </a:r>
          </a:p>
        </p:txBody>
      </p:sp>
      <p:sp>
        <p:nvSpPr>
          <p:cNvPr name="TextBox 29" id="29"/>
          <p:cNvSpPr txBox="true"/>
          <p:nvPr/>
        </p:nvSpPr>
        <p:spPr>
          <a:xfrm rot="0">
            <a:off x="10163294" y="4506649"/>
            <a:ext cx="5262215" cy="1308100"/>
          </a:xfrm>
          <a:prstGeom prst="rect">
            <a:avLst/>
          </a:prstGeom>
        </p:spPr>
        <p:txBody>
          <a:bodyPr anchor="t" rtlCol="false" tIns="0" lIns="0" bIns="0" rIns="0">
            <a:spAutoFit/>
          </a:bodyPr>
          <a:lstStyle/>
          <a:p>
            <a:pPr algn="just">
              <a:lnSpc>
                <a:spcPts val="3499"/>
              </a:lnSpc>
              <a:spcBef>
                <a:spcPct val="0"/>
              </a:spcBef>
            </a:pPr>
            <a:r>
              <a:rPr lang="en-US" sz="2499" u="sng">
                <a:solidFill>
                  <a:srgbClr val="FFFFFF"/>
                </a:solidFill>
                <a:latin typeface="Tomorrow"/>
                <a:ea typeface="Tomorrow"/>
                <a:cs typeface="Tomorrow"/>
                <a:sym typeface="Tomorrow"/>
                <a:hlinkClick r:id="rId8" tooltip="https://colab.research.google.com/drive/1Lk1j6RwBPYjcNJOBAYbLa2Lgohf_l81a?usp=sharing"/>
              </a:rPr>
              <a:t>https://colab.research.google.com/drive/1Lk1j6RwBPYjcNJOBAYbLa2Lgohf_l81a?usp=sharing</a:t>
            </a:r>
          </a:p>
        </p:txBody>
      </p:sp>
    </p:spTree>
  </p:cSld>
  <p:clrMapOvr>
    <a:masterClrMapping/>
  </p:clrMapOvr>
  <p:transition spd="slow">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55735" y="1473720"/>
            <a:ext cx="17155692" cy="8103536"/>
            <a:chOff x="0" y="0"/>
            <a:chExt cx="4518371" cy="2134265"/>
          </a:xfrm>
        </p:grpSpPr>
        <p:sp>
          <p:nvSpPr>
            <p:cNvPr name="Freeform 4" id="4"/>
            <p:cNvSpPr/>
            <p:nvPr/>
          </p:nvSpPr>
          <p:spPr>
            <a:xfrm flipH="false" flipV="false" rot="0">
              <a:off x="0" y="0"/>
              <a:ext cx="4518371" cy="2134264"/>
            </a:xfrm>
            <a:custGeom>
              <a:avLst/>
              <a:gdLst/>
              <a:ahLst/>
              <a:cxnLst/>
              <a:rect r="r" b="b" t="t" l="l"/>
              <a:pathLst>
                <a:path h="2134264" w="4518371">
                  <a:moveTo>
                    <a:pt x="0" y="0"/>
                  </a:moveTo>
                  <a:lnTo>
                    <a:pt x="4518371" y="0"/>
                  </a:lnTo>
                  <a:lnTo>
                    <a:pt x="4518371" y="2134264"/>
                  </a:lnTo>
                  <a:lnTo>
                    <a:pt x="0" y="2134264"/>
                  </a:lnTo>
                  <a:close/>
                </a:path>
              </a:pathLst>
            </a:custGeom>
            <a:solidFill>
              <a:srgbClr val="FFFFFF">
                <a:alpha val="10980"/>
              </a:srgbClr>
            </a:solidFill>
          </p:spPr>
        </p:sp>
        <p:sp>
          <p:nvSpPr>
            <p:cNvPr name="TextBox 5" id="5"/>
            <p:cNvSpPr txBox="true"/>
            <p:nvPr/>
          </p:nvSpPr>
          <p:spPr>
            <a:xfrm>
              <a:off x="0" y="-47625"/>
              <a:ext cx="4518371" cy="218189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grpSp>
        <p:nvGrpSpPr>
          <p:cNvPr name="Group 7" id="7"/>
          <p:cNvGrpSpPr/>
          <p:nvPr/>
        </p:nvGrpSpPr>
        <p:grpSpPr>
          <a:xfrm rot="0">
            <a:off x="655040" y="707584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951511" y="9386037"/>
            <a:ext cx="626183" cy="566519"/>
            <a:chOff x="0" y="0"/>
            <a:chExt cx="164921" cy="149207"/>
          </a:xfrm>
        </p:grpSpPr>
        <p:sp>
          <p:nvSpPr>
            <p:cNvPr name="Freeform 11" id="11"/>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2" id="12"/>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2270217" y="9370154"/>
            <a:ext cx="310192" cy="299142"/>
            <a:chOff x="0" y="0"/>
            <a:chExt cx="81697" cy="78786"/>
          </a:xfrm>
        </p:grpSpPr>
        <p:sp>
          <p:nvSpPr>
            <p:cNvPr name="Freeform 14" id="1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5" id="1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579665" y="2006683"/>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4344007" y="2669282"/>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882599" y="2768074"/>
            <a:ext cx="9342282" cy="5514828"/>
          </a:xfrm>
          <a:custGeom>
            <a:avLst/>
            <a:gdLst/>
            <a:ahLst/>
            <a:cxnLst/>
            <a:rect r="r" b="b" t="t" l="l"/>
            <a:pathLst>
              <a:path h="5514828" w="9342282">
                <a:moveTo>
                  <a:pt x="0" y="0"/>
                </a:moveTo>
                <a:lnTo>
                  <a:pt x="9342282" y="0"/>
                </a:lnTo>
                <a:lnTo>
                  <a:pt x="9342282" y="5514827"/>
                </a:lnTo>
                <a:lnTo>
                  <a:pt x="0" y="5514827"/>
                </a:lnTo>
                <a:lnTo>
                  <a:pt x="0" y="0"/>
                </a:lnTo>
                <a:close/>
              </a:path>
            </a:pathLst>
          </a:custGeom>
          <a:blipFill>
            <a:blip r:embed="rId4"/>
            <a:stretch>
              <a:fillRect l="0" t="0" r="0" b="0"/>
            </a:stretch>
          </a:blipFill>
        </p:spPr>
      </p:sp>
      <p:sp>
        <p:nvSpPr>
          <p:cNvPr name="TextBox 23" id="23"/>
          <p:cNvSpPr txBox="true"/>
          <p:nvPr/>
        </p:nvSpPr>
        <p:spPr>
          <a:xfrm rot="0">
            <a:off x="555735" y="495300"/>
            <a:ext cx="9996011" cy="53340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FFFFF"/>
                </a:solidFill>
                <a:latin typeface="Tomorrow Bold"/>
                <a:ea typeface="Tomorrow Bold"/>
                <a:cs typeface="Tomorrow Bold"/>
                <a:sym typeface="Tomorrow Bold"/>
              </a:rPr>
              <a:t>Penerapan dan penjelasan kode</a:t>
            </a:r>
          </a:p>
        </p:txBody>
      </p:sp>
      <p:sp>
        <p:nvSpPr>
          <p:cNvPr name="TextBox 24" id="24"/>
          <p:cNvSpPr txBox="true"/>
          <p:nvPr/>
        </p:nvSpPr>
        <p:spPr>
          <a:xfrm rot="0">
            <a:off x="10551746" y="2435578"/>
            <a:ext cx="6707554" cy="6113145"/>
          </a:xfrm>
          <a:prstGeom prst="rect">
            <a:avLst/>
          </a:prstGeom>
        </p:spPr>
        <p:txBody>
          <a:bodyPr anchor="t" rtlCol="false" tIns="0" lIns="0" bIns="0" rIns="0">
            <a:spAutoFit/>
          </a:bodyPr>
          <a:lstStyle/>
          <a:p>
            <a:pPr algn="l">
              <a:lnSpc>
                <a:spcPts val="3450"/>
              </a:lnSpc>
            </a:pPr>
            <a:r>
              <a:rPr lang="en-US" sz="2300">
                <a:solidFill>
                  <a:srgbClr val="FFFFFF"/>
                </a:solidFill>
                <a:latin typeface="Tomorrow"/>
                <a:ea typeface="Tomorrow"/>
                <a:cs typeface="Tomorrow"/>
                <a:sym typeface="Tomorrow"/>
              </a:rPr>
              <a:t>Kode tersebut mengimpor berbagai library untuk analisis data, visualisasi, serta pembuatan model machine learning. Dataset diabetes kemudian dibaca menggunakan pandas dan ditampilkan lima baris awalnya untuk melihat struktur datanya. Selanjutnya, kode menyiapkan fungsi-fungsi dari scikit-learn seperti train-test split, Logistic Regression, serta metrik evaluasi seperti akurasi, classification report, dan confusion matrix yang nantinya digunakan untuk melatih dan menilai performa model prediksi diabetes. Dari hasil disamping terdapat 9 kolom dengan 8 fitur dan 1 target/kelas</a:t>
            </a:r>
          </a:p>
        </p:txBody>
      </p:sp>
    </p:spTree>
  </p:cSld>
  <p:clrMapOvr>
    <a:masterClrMapping/>
  </p:clrMapOvr>
  <p:transition spd="slow">
    <p:cover dir="d"/>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55735" y="1473720"/>
            <a:ext cx="17155692" cy="8103536"/>
            <a:chOff x="0" y="0"/>
            <a:chExt cx="4518371" cy="2134265"/>
          </a:xfrm>
        </p:grpSpPr>
        <p:sp>
          <p:nvSpPr>
            <p:cNvPr name="Freeform 4" id="4"/>
            <p:cNvSpPr/>
            <p:nvPr/>
          </p:nvSpPr>
          <p:spPr>
            <a:xfrm flipH="false" flipV="false" rot="0">
              <a:off x="0" y="0"/>
              <a:ext cx="4518371" cy="2134264"/>
            </a:xfrm>
            <a:custGeom>
              <a:avLst/>
              <a:gdLst/>
              <a:ahLst/>
              <a:cxnLst/>
              <a:rect r="r" b="b" t="t" l="l"/>
              <a:pathLst>
                <a:path h="2134264" w="4518371">
                  <a:moveTo>
                    <a:pt x="0" y="0"/>
                  </a:moveTo>
                  <a:lnTo>
                    <a:pt x="4518371" y="0"/>
                  </a:lnTo>
                  <a:lnTo>
                    <a:pt x="4518371" y="2134264"/>
                  </a:lnTo>
                  <a:lnTo>
                    <a:pt x="0" y="2134264"/>
                  </a:lnTo>
                  <a:close/>
                </a:path>
              </a:pathLst>
            </a:custGeom>
            <a:solidFill>
              <a:srgbClr val="FFFFFF">
                <a:alpha val="10980"/>
              </a:srgbClr>
            </a:solidFill>
          </p:spPr>
        </p:sp>
        <p:sp>
          <p:nvSpPr>
            <p:cNvPr name="TextBox 5" id="5"/>
            <p:cNvSpPr txBox="true"/>
            <p:nvPr/>
          </p:nvSpPr>
          <p:spPr>
            <a:xfrm>
              <a:off x="0" y="-47625"/>
              <a:ext cx="4518371" cy="218189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grpSp>
        <p:nvGrpSpPr>
          <p:cNvPr name="Group 7" id="7"/>
          <p:cNvGrpSpPr/>
          <p:nvPr/>
        </p:nvGrpSpPr>
        <p:grpSpPr>
          <a:xfrm rot="0">
            <a:off x="655040" y="707584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951511" y="9386037"/>
            <a:ext cx="626183" cy="566519"/>
            <a:chOff x="0" y="0"/>
            <a:chExt cx="164921" cy="149207"/>
          </a:xfrm>
        </p:grpSpPr>
        <p:sp>
          <p:nvSpPr>
            <p:cNvPr name="Freeform 11" id="11"/>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2" id="12"/>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2270217" y="9370154"/>
            <a:ext cx="310192" cy="299142"/>
            <a:chOff x="0" y="0"/>
            <a:chExt cx="81697" cy="78786"/>
          </a:xfrm>
        </p:grpSpPr>
        <p:sp>
          <p:nvSpPr>
            <p:cNvPr name="Freeform 14" id="1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5" id="1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579665" y="2006683"/>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4344007" y="2669282"/>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028700" y="2496030"/>
            <a:ext cx="3453080" cy="1145242"/>
          </a:xfrm>
          <a:custGeom>
            <a:avLst/>
            <a:gdLst/>
            <a:ahLst/>
            <a:cxnLst/>
            <a:rect r="r" b="b" t="t" l="l"/>
            <a:pathLst>
              <a:path h="1145242" w="3453080">
                <a:moveTo>
                  <a:pt x="0" y="0"/>
                </a:moveTo>
                <a:lnTo>
                  <a:pt x="3453080" y="0"/>
                </a:lnTo>
                <a:lnTo>
                  <a:pt x="3453080" y="1145242"/>
                </a:lnTo>
                <a:lnTo>
                  <a:pt x="0" y="1145242"/>
                </a:lnTo>
                <a:lnTo>
                  <a:pt x="0" y="0"/>
                </a:lnTo>
                <a:close/>
              </a:path>
            </a:pathLst>
          </a:custGeom>
          <a:blipFill>
            <a:blip r:embed="rId4"/>
            <a:stretch>
              <a:fillRect l="0" t="0" r="0" b="0"/>
            </a:stretch>
          </a:blipFill>
        </p:spPr>
      </p:sp>
      <p:sp>
        <p:nvSpPr>
          <p:cNvPr name="Freeform 23" id="23"/>
          <p:cNvSpPr/>
          <p:nvPr/>
        </p:nvSpPr>
        <p:spPr>
          <a:xfrm flipH="false" flipV="false" rot="0">
            <a:off x="1028700" y="4833994"/>
            <a:ext cx="3168947" cy="4040408"/>
          </a:xfrm>
          <a:custGeom>
            <a:avLst/>
            <a:gdLst/>
            <a:ahLst/>
            <a:cxnLst/>
            <a:rect r="r" b="b" t="t" l="l"/>
            <a:pathLst>
              <a:path h="4040408" w="3168947">
                <a:moveTo>
                  <a:pt x="0" y="0"/>
                </a:moveTo>
                <a:lnTo>
                  <a:pt x="3168947" y="0"/>
                </a:lnTo>
                <a:lnTo>
                  <a:pt x="3168947" y="4040408"/>
                </a:lnTo>
                <a:lnTo>
                  <a:pt x="0" y="4040408"/>
                </a:lnTo>
                <a:lnTo>
                  <a:pt x="0" y="0"/>
                </a:lnTo>
                <a:close/>
              </a:path>
            </a:pathLst>
          </a:custGeom>
          <a:blipFill>
            <a:blip r:embed="rId5"/>
            <a:stretch>
              <a:fillRect l="0" t="0" r="0" b="0"/>
            </a:stretch>
          </a:blipFill>
        </p:spPr>
      </p:sp>
      <p:sp>
        <p:nvSpPr>
          <p:cNvPr name="Freeform 24" id="24"/>
          <p:cNvSpPr/>
          <p:nvPr/>
        </p:nvSpPr>
        <p:spPr>
          <a:xfrm flipH="false" flipV="false" rot="0">
            <a:off x="9828952" y="4696450"/>
            <a:ext cx="3893377" cy="1007698"/>
          </a:xfrm>
          <a:custGeom>
            <a:avLst/>
            <a:gdLst/>
            <a:ahLst/>
            <a:cxnLst/>
            <a:rect r="r" b="b" t="t" l="l"/>
            <a:pathLst>
              <a:path h="1007698" w="3893377">
                <a:moveTo>
                  <a:pt x="0" y="0"/>
                </a:moveTo>
                <a:lnTo>
                  <a:pt x="3893377" y="0"/>
                </a:lnTo>
                <a:lnTo>
                  <a:pt x="3893377" y="1007698"/>
                </a:lnTo>
                <a:lnTo>
                  <a:pt x="0" y="1007698"/>
                </a:lnTo>
                <a:lnTo>
                  <a:pt x="0" y="0"/>
                </a:lnTo>
                <a:close/>
              </a:path>
            </a:pathLst>
          </a:custGeom>
          <a:blipFill>
            <a:blip r:embed="rId6"/>
            <a:stretch>
              <a:fillRect l="0" t="0" r="0" b="0"/>
            </a:stretch>
          </a:blipFill>
        </p:spPr>
      </p:sp>
      <p:sp>
        <p:nvSpPr>
          <p:cNvPr name="TextBox 25" id="25"/>
          <p:cNvSpPr txBox="true"/>
          <p:nvPr/>
        </p:nvSpPr>
        <p:spPr>
          <a:xfrm rot="0">
            <a:off x="555735" y="495300"/>
            <a:ext cx="9996011" cy="53340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FFFFF"/>
                </a:solidFill>
                <a:latin typeface="Tomorrow Bold"/>
                <a:ea typeface="Tomorrow Bold"/>
                <a:cs typeface="Tomorrow Bold"/>
                <a:sym typeface="Tomorrow Bold"/>
              </a:rPr>
              <a:t>Penerapan dan penjelasan kode</a:t>
            </a:r>
          </a:p>
        </p:txBody>
      </p:sp>
      <p:sp>
        <p:nvSpPr>
          <p:cNvPr name="TextBox 26" id="26"/>
          <p:cNvSpPr txBox="true"/>
          <p:nvPr/>
        </p:nvSpPr>
        <p:spPr>
          <a:xfrm rot="0">
            <a:off x="5872855" y="2109898"/>
            <a:ext cx="11386445" cy="1731645"/>
          </a:xfrm>
          <a:prstGeom prst="rect">
            <a:avLst/>
          </a:prstGeom>
        </p:spPr>
        <p:txBody>
          <a:bodyPr anchor="t" rtlCol="false" tIns="0" lIns="0" bIns="0" rIns="0">
            <a:spAutoFit/>
          </a:bodyPr>
          <a:lstStyle/>
          <a:p>
            <a:pPr algn="l">
              <a:lnSpc>
                <a:spcPts val="3450"/>
              </a:lnSpc>
            </a:pPr>
            <a:r>
              <a:rPr lang="en-US" sz="2300">
                <a:solidFill>
                  <a:srgbClr val="FFFFFF"/>
                </a:solidFill>
                <a:latin typeface="Tomorrow"/>
                <a:ea typeface="Tomorrow"/>
                <a:cs typeface="Tomorrow"/>
                <a:sym typeface="Tomorrow"/>
              </a:rPr>
              <a:t>cek missing value, untuk mengecek apakah dataset memiliki nilai kosong (NaN). Ini dilakukan karena Logistic Regression tidak dapat memproses data kosong, missing value dapat merusak kualitas model, dan bisa menyebabkan error saat training, akurasi menurun, dan model bias karena data tidak lengkap.</a:t>
            </a:r>
          </a:p>
        </p:txBody>
      </p:sp>
      <p:sp>
        <p:nvSpPr>
          <p:cNvPr name="TextBox 27" id="27"/>
          <p:cNvSpPr txBox="true"/>
          <p:nvPr/>
        </p:nvSpPr>
        <p:spPr>
          <a:xfrm rot="0">
            <a:off x="4481780" y="4859663"/>
            <a:ext cx="4670151" cy="3922395"/>
          </a:xfrm>
          <a:prstGeom prst="rect">
            <a:avLst/>
          </a:prstGeom>
        </p:spPr>
        <p:txBody>
          <a:bodyPr anchor="t" rtlCol="false" tIns="0" lIns="0" bIns="0" rIns="0">
            <a:spAutoFit/>
          </a:bodyPr>
          <a:lstStyle/>
          <a:p>
            <a:pPr algn="l">
              <a:lnSpc>
                <a:spcPts val="3450"/>
              </a:lnSpc>
            </a:pPr>
            <a:r>
              <a:rPr lang="en-US" sz="2300">
                <a:solidFill>
                  <a:srgbClr val="FFFFFF"/>
                </a:solidFill>
                <a:latin typeface="Tomorrow"/>
                <a:ea typeface="Tomorrow"/>
                <a:cs typeface="Tomorrow"/>
                <a:sym typeface="Tomorrow"/>
              </a:rPr>
              <a:t>dtypes → memastikan semua fitur bertipe numerik (wajib untuk Logistic Regression)</a:t>
            </a:r>
          </a:p>
          <a:p>
            <a:pPr algn="l">
              <a:lnSpc>
                <a:spcPts val="3450"/>
              </a:lnSpc>
            </a:pPr>
            <a:r>
              <a:rPr lang="en-US" sz="2300">
                <a:solidFill>
                  <a:srgbClr val="FFFFFF"/>
                </a:solidFill>
                <a:latin typeface="Tomorrow"/>
                <a:ea typeface="Tomorrow"/>
                <a:cs typeface="Tomorrow"/>
                <a:sym typeface="Tomorrow"/>
              </a:rPr>
              <a:t>shape → mengetahui jumlah data dan kolom</a:t>
            </a:r>
          </a:p>
          <a:p>
            <a:pPr algn="l">
              <a:lnSpc>
                <a:spcPts val="3450"/>
              </a:lnSpc>
            </a:pPr>
            <a:r>
              <a:rPr lang="en-US" sz="2300">
                <a:solidFill>
                  <a:srgbClr val="FFFFFF"/>
                </a:solidFill>
                <a:latin typeface="Tomorrow"/>
                <a:ea typeface="Tomorrow"/>
                <a:cs typeface="Tomorrow"/>
                <a:sym typeface="Tomorrow"/>
              </a:rPr>
              <a:t>hasilnya semua kolom numerik, jadi cocok untuk model ini, serta ada 1000 sampel dengan 8 fitur dan 1 target/label</a:t>
            </a:r>
          </a:p>
        </p:txBody>
      </p:sp>
      <p:sp>
        <p:nvSpPr>
          <p:cNvPr name="TextBox 28" id="28"/>
          <p:cNvSpPr txBox="true"/>
          <p:nvPr/>
        </p:nvSpPr>
        <p:spPr>
          <a:xfrm rot="0">
            <a:off x="9828952" y="5828307"/>
            <a:ext cx="7430348" cy="3046095"/>
          </a:xfrm>
          <a:prstGeom prst="rect">
            <a:avLst/>
          </a:prstGeom>
        </p:spPr>
        <p:txBody>
          <a:bodyPr anchor="t" rtlCol="false" tIns="0" lIns="0" bIns="0" rIns="0">
            <a:spAutoFit/>
          </a:bodyPr>
          <a:lstStyle/>
          <a:p>
            <a:pPr algn="l">
              <a:lnSpc>
                <a:spcPts val="3450"/>
              </a:lnSpc>
            </a:pPr>
            <a:r>
              <a:rPr lang="en-US" sz="2300">
                <a:solidFill>
                  <a:srgbClr val="FFFFFF"/>
                </a:solidFill>
                <a:latin typeface="Tomorrow"/>
                <a:ea typeface="Tomorrow"/>
                <a:cs typeface="Tomorrow"/>
                <a:sym typeface="Tomorrow"/>
              </a:rPr>
              <a:t>Memisahkan fitur dan target</a:t>
            </a:r>
          </a:p>
          <a:p>
            <a:pPr algn="l" marL="496571" indent="-248285" lvl="1">
              <a:lnSpc>
                <a:spcPts val="3450"/>
              </a:lnSpc>
              <a:buFont typeface="Arial"/>
              <a:buChar char="•"/>
            </a:pPr>
            <a:r>
              <a:rPr lang="en-US" sz="2300">
                <a:solidFill>
                  <a:srgbClr val="FFFFFF"/>
                </a:solidFill>
                <a:latin typeface="Tomorrow"/>
                <a:ea typeface="Tomorrow"/>
                <a:cs typeface="Tomorrow"/>
                <a:sym typeface="Tomorrow"/>
              </a:rPr>
              <a:t>X = input (gejala/kondisi pasien)</a:t>
            </a:r>
          </a:p>
          <a:p>
            <a:pPr algn="l" marL="496571" indent="-248285" lvl="1">
              <a:lnSpc>
                <a:spcPts val="3450"/>
              </a:lnSpc>
              <a:buFont typeface="Arial"/>
              <a:buChar char="•"/>
            </a:pPr>
            <a:r>
              <a:rPr lang="en-US" sz="2300">
                <a:solidFill>
                  <a:srgbClr val="FFFFFF"/>
                </a:solidFill>
                <a:latin typeface="Tomorrow"/>
                <a:ea typeface="Tomorrow"/>
                <a:cs typeface="Tomorrow"/>
                <a:sym typeface="Tomorrow"/>
              </a:rPr>
              <a:t>y = output (Diagnose: 0 = tidak diabetes, 1 = diabetes)</a:t>
            </a:r>
          </a:p>
          <a:p>
            <a:pPr algn="l">
              <a:lnSpc>
                <a:spcPts val="3450"/>
              </a:lnSpc>
            </a:pPr>
            <a:r>
              <a:rPr lang="en-US" sz="2300">
                <a:solidFill>
                  <a:srgbClr val="FFFFFF"/>
                </a:solidFill>
                <a:latin typeface="Tomorrow"/>
                <a:ea typeface="Tomorrow"/>
                <a:cs typeface="Tomorrow"/>
                <a:sym typeface="Tomorrow"/>
              </a:rPr>
              <a:t>Model hanya belajar dari X untuk memprediksi y. Jadi model ini belajar pola dari kolom Age, BMI, Glucose, dll untuk memprediksi Diagnose</a:t>
            </a:r>
          </a:p>
        </p:txBody>
      </p:sp>
    </p:spTree>
  </p:cSld>
  <p:clrMapOvr>
    <a:masterClrMapping/>
  </p:clrMapOvr>
  <p:transition spd="slow">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55735" y="1473720"/>
            <a:ext cx="17155692" cy="8103536"/>
            <a:chOff x="0" y="0"/>
            <a:chExt cx="4518371" cy="2134265"/>
          </a:xfrm>
        </p:grpSpPr>
        <p:sp>
          <p:nvSpPr>
            <p:cNvPr name="Freeform 4" id="4"/>
            <p:cNvSpPr/>
            <p:nvPr/>
          </p:nvSpPr>
          <p:spPr>
            <a:xfrm flipH="false" flipV="false" rot="0">
              <a:off x="0" y="0"/>
              <a:ext cx="4518371" cy="2134264"/>
            </a:xfrm>
            <a:custGeom>
              <a:avLst/>
              <a:gdLst/>
              <a:ahLst/>
              <a:cxnLst/>
              <a:rect r="r" b="b" t="t" l="l"/>
              <a:pathLst>
                <a:path h="2134264" w="4518371">
                  <a:moveTo>
                    <a:pt x="0" y="0"/>
                  </a:moveTo>
                  <a:lnTo>
                    <a:pt x="4518371" y="0"/>
                  </a:lnTo>
                  <a:lnTo>
                    <a:pt x="4518371" y="2134264"/>
                  </a:lnTo>
                  <a:lnTo>
                    <a:pt x="0" y="2134264"/>
                  </a:lnTo>
                  <a:close/>
                </a:path>
              </a:pathLst>
            </a:custGeom>
            <a:solidFill>
              <a:srgbClr val="FFFFFF">
                <a:alpha val="10980"/>
              </a:srgbClr>
            </a:solidFill>
          </p:spPr>
        </p:sp>
        <p:sp>
          <p:nvSpPr>
            <p:cNvPr name="TextBox 5" id="5"/>
            <p:cNvSpPr txBox="true"/>
            <p:nvPr/>
          </p:nvSpPr>
          <p:spPr>
            <a:xfrm>
              <a:off x="0" y="-47625"/>
              <a:ext cx="4518371" cy="218189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grpSp>
        <p:nvGrpSpPr>
          <p:cNvPr name="Group 7" id="7"/>
          <p:cNvGrpSpPr/>
          <p:nvPr/>
        </p:nvGrpSpPr>
        <p:grpSpPr>
          <a:xfrm rot="0">
            <a:off x="655040" y="707584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951511" y="9386037"/>
            <a:ext cx="626183" cy="566519"/>
            <a:chOff x="0" y="0"/>
            <a:chExt cx="164921" cy="149207"/>
          </a:xfrm>
        </p:grpSpPr>
        <p:sp>
          <p:nvSpPr>
            <p:cNvPr name="Freeform 11" id="11"/>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2" id="12"/>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2270217" y="9370154"/>
            <a:ext cx="310192" cy="299142"/>
            <a:chOff x="0" y="0"/>
            <a:chExt cx="81697" cy="78786"/>
          </a:xfrm>
        </p:grpSpPr>
        <p:sp>
          <p:nvSpPr>
            <p:cNvPr name="Freeform 14" id="1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5" id="1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579665" y="2006683"/>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4344007" y="2669282"/>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4318143" y="1993503"/>
            <a:ext cx="9651714" cy="2753163"/>
          </a:xfrm>
          <a:custGeom>
            <a:avLst/>
            <a:gdLst/>
            <a:ahLst/>
            <a:cxnLst/>
            <a:rect r="r" b="b" t="t" l="l"/>
            <a:pathLst>
              <a:path h="2753163" w="9651714">
                <a:moveTo>
                  <a:pt x="0" y="0"/>
                </a:moveTo>
                <a:lnTo>
                  <a:pt x="9651714" y="0"/>
                </a:lnTo>
                <a:lnTo>
                  <a:pt x="9651714" y="2753163"/>
                </a:lnTo>
                <a:lnTo>
                  <a:pt x="0" y="2753163"/>
                </a:lnTo>
                <a:lnTo>
                  <a:pt x="0" y="0"/>
                </a:lnTo>
                <a:close/>
              </a:path>
            </a:pathLst>
          </a:custGeom>
          <a:blipFill>
            <a:blip r:embed="rId4"/>
            <a:stretch>
              <a:fillRect l="0" t="0" r="0" b="0"/>
            </a:stretch>
          </a:blipFill>
        </p:spPr>
      </p:sp>
      <p:sp>
        <p:nvSpPr>
          <p:cNvPr name="TextBox 23" id="23"/>
          <p:cNvSpPr txBox="true"/>
          <p:nvPr/>
        </p:nvSpPr>
        <p:spPr>
          <a:xfrm rot="0">
            <a:off x="555735" y="495300"/>
            <a:ext cx="9996011" cy="53340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FFFFF"/>
                </a:solidFill>
                <a:latin typeface="Tomorrow Bold"/>
                <a:ea typeface="Tomorrow Bold"/>
                <a:cs typeface="Tomorrow Bold"/>
                <a:sym typeface="Tomorrow Bold"/>
              </a:rPr>
              <a:t>Penerapan dan penjelasan kode</a:t>
            </a:r>
          </a:p>
        </p:txBody>
      </p:sp>
      <p:sp>
        <p:nvSpPr>
          <p:cNvPr name="TextBox 24" id="24"/>
          <p:cNvSpPr txBox="true"/>
          <p:nvPr/>
        </p:nvSpPr>
        <p:spPr>
          <a:xfrm rot="0">
            <a:off x="3440358" y="4851441"/>
            <a:ext cx="11386445" cy="4360545"/>
          </a:xfrm>
          <a:prstGeom prst="rect">
            <a:avLst/>
          </a:prstGeom>
        </p:spPr>
        <p:txBody>
          <a:bodyPr anchor="t" rtlCol="false" tIns="0" lIns="0" bIns="0" rIns="0">
            <a:spAutoFit/>
          </a:bodyPr>
          <a:lstStyle/>
          <a:p>
            <a:pPr algn="just" marL="496571" indent="-248285" lvl="1">
              <a:lnSpc>
                <a:spcPts val="3450"/>
              </a:lnSpc>
              <a:buFont typeface="Arial"/>
              <a:buChar char="•"/>
            </a:pPr>
            <a:r>
              <a:rPr lang="en-US" sz="2300">
                <a:solidFill>
                  <a:srgbClr val="FFFFFF"/>
                </a:solidFill>
                <a:latin typeface="Tomorrow"/>
                <a:ea typeface="Tomorrow"/>
                <a:cs typeface="Tomorrow"/>
                <a:sym typeface="Tomorrow"/>
              </a:rPr>
              <a:t>Training set → untuk melatih model</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Testing set → untuk mengevaluasi model final</a:t>
            </a:r>
          </a:p>
          <a:p>
            <a:pPr algn="just">
              <a:lnSpc>
                <a:spcPts val="3450"/>
              </a:lnSpc>
            </a:pPr>
            <a:r>
              <a:rPr lang="en-US" sz="2300">
                <a:solidFill>
                  <a:srgbClr val="FFFFFF"/>
                </a:solidFill>
                <a:latin typeface="Tomorrow"/>
                <a:ea typeface="Tomorrow"/>
                <a:cs typeface="Tomorrow"/>
                <a:sym typeface="Tomorrow"/>
              </a:rPr>
              <a:t>test_size=0.2 berarti 20% data menjadi data uji dan 80% menjadi data training</a:t>
            </a:r>
          </a:p>
          <a:p>
            <a:pPr algn="just">
              <a:lnSpc>
                <a:spcPts val="3450"/>
              </a:lnSpc>
            </a:pPr>
            <a:r>
              <a:rPr lang="en-US" sz="2300">
                <a:solidFill>
                  <a:srgbClr val="FFFFFF"/>
                </a:solidFill>
                <a:latin typeface="Tomorrow"/>
                <a:ea typeface="Tomorrow"/>
                <a:cs typeface="Tomorrow"/>
                <a:sym typeface="Tomorrow"/>
              </a:rPr>
              <a:t>random_state=42 untuk pembagian data selalu sama setiap kode dijalankan atau sebagai seed</a:t>
            </a:r>
          </a:p>
          <a:p>
            <a:pPr algn="just">
              <a:lnSpc>
                <a:spcPts val="3450"/>
              </a:lnSpc>
            </a:pPr>
            <a:r>
              <a:rPr lang="en-US" sz="2300">
                <a:solidFill>
                  <a:srgbClr val="FFFFFF"/>
                </a:solidFill>
                <a:latin typeface="Tomorrow"/>
                <a:ea typeface="Tomorrow"/>
                <a:cs typeface="Tomorrow"/>
                <a:sym typeface="Tomorrow"/>
              </a:rPr>
              <a:t>stratify=y digunakan agar proporsi kelas 0 dan 1 tetap seimbang antara di train dan test, agar terhindar dari overfitting dan model bias ke kelas yang jumlahnya lebih banyak</a:t>
            </a:r>
          </a:p>
          <a:p>
            <a:pPr algn="just">
              <a:lnSpc>
                <a:spcPts val="3450"/>
              </a:lnSpc>
            </a:pPr>
            <a:r>
              <a:rPr lang="en-US" sz="2300">
                <a:solidFill>
                  <a:srgbClr val="FFFFFF"/>
                </a:solidFill>
                <a:latin typeface="Tomorrow"/>
                <a:ea typeface="Tomorrow"/>
                <a:cs typeface="Tomorrow"/>
                <a:sym typeface="Tomorrow"/>
              </a:rPr>
              <a:t>Validation digunakan untuk memantau apakah model overfitting, dan membandingkan performa training vs validation</a:t>
            </a:r>
          </a:p>
        </p:txBody>
      </p:sp>
    </p:spTree>
  </p:cSld>
  <p:clrMapOvr>
    <a:masterClrMapping/>
  </p:clrMapOvr>
  <p:transition spd="slow">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55735" y="1473720"/>
            <a:ext cx="17155692" cy="8103536"/>
            <a:chOff x="0" y="0"/>
            <a:chExt cx="4518371" cy="2134265"/>
          </a:xfrm>
        </p:grpSpPr>
        <p:sp>
          <p:nvSpPr>
            <p:cNvPr name="Freeform 4" id="4"/>
            <p:cNvSpPr/>
            <p:nvPr/>
          </p:nvSpPr>
          <p:spPr>
            <a:xfrm flipH="false" flipV="false" rot="0">
              <a:off x="0" y="0"/>
              <a:ext cx="4518371" cy="2134264"/>
            </a:xfrm>
            <a:custGeom>
              <a:avLst/>
              <a:gdLst/>
              <a:ahLst/>
              <a:cxnLst/>
              <a:rect r="r" b="b" t="t" l="l"/>
              <a:pathLst>
                <a:path h="2134264" w="4518371">
                  <a:moveTo>
                    <a:pt x="0" y="0"/>
                  </a:moveTo>
                  <a:lnTo>
                    <a:pt x="4518371" y="0"/>
                  </a:lnTo>
                  <a:lnTo>
                    <a:pt x="4518371" y="2134264"/>
                  </a:lnTo>
                  <a:lnTo>
                    <a:pt x="0" y="2134264"/>
                  </a:lnTo>
                  <a:close/>
                </a:path>
              </a:pathLst>
            </a:custGeom>
            <a:solidFill>
              <a:srgbClr val="FFFFFF">
                <a:alpha val="10980"/>
              </a:srgbClr>
            </a:solidFill>
          </p:spPr>
        </p:sp>
        <p:sp>
          <p:nvSpPr>
            <p:cNvPr name="TextBox 5" id="5"/>
            <p:cNvSpPr txBox="true"/>
            <p:nvPr/>
          </p:nvSpPr>
          <p:spPr>
            <a:xfrm>
              <a:off x="0" y="-47625"/>
              <a:ext cx="4518371" cy="218189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grpSp>
        <p:nvGrpSpPr>
          <p:cNvPr name="Group 7" id="7"/>
          <p:cNvGrpSpPr/>
          <p:nvPr/>
        </p:nvGrpSpPr>
        <p:grpSpPr>
          <a:xfrm rot="0">
            <a:off x="655040" y="707584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951511" y="9386037"/>
            <a:ext cx="626183" cy="566519"/>
            <a:chOff x="0" y="0"/>
            <a:chExt cx="164921" cy="149207"/>
          </a:xfrm>
        </p:grpSpPr>
        <p:sp>
          <p:nvSpPr>
            <p:cNvPr name="Freeform 11" id="11"/>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2" id="12"/>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2270217" y="9370154"/>
            <a:ext cx="310192" cy="299142"/>
            <a:chOff x="0" y="0"/>
            <a:chExt cx="81697" cy="78786"/>
          </a:xfrm>
        </p:grpSpPr>
        <p:sp>
          <p:nvSpPr>
            <p:cNvPr name="Freeform 14" id="1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5" id="1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579665" y="2006683"/>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4344007" y="2669282"/>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028700" y="2990908"/>
            <a:ext cx="6234855" cy="3007599"/>
          </a:xfrm>
          <a:custGeom>
            <a:avLst/>
            <a:gdLst/>
            <a:ahLst/>
            <a:cxnLst/>
            <a:rect r="r" b="b" t="t" l="l"/>
            <a:pathLst>
              <a:path h="3007599" w="6234855">
                <a:moveTo>
                  <a:pt x="0" y="0"/>
                </a:moveTo>
                <a:lnTo>
                  <a:pt x="6234855" y="0"/>
                </a:lnTo>
                <a:lnTo>
                  <a:pt x="6234855" y="3007600"/>
                </a:lnTo>
                <a:lnTo>
                  <a:pt x="0" y="3007600"/>
                </a:lnTo>
                <a:lnTo>
                  <a:pt x="0" y="0"/>
                </a:lnTo>
                <a:close/>
              </a:path>
            </a:pathLst>
          </a:custGeom>
          <a:blipFill>
            <a:blip r:embed="rId4"/>
            <a:stretch>
              <a:fillRect l="0" t="0" r="0" b="0"/>
            </a:stretch>
          </a:blipFill>
        </p:spPr>
      </p:sp>
      <p:sp>
        <p:nvSpPr>
          <p:cNvPr name="Freeform 23" id="23"/>
          <p:cNvSpPr/>
          <p:nvPr/>
        </p:nvSpPr>
        <p:spPr>
          <a:xfrm flipH="false" flipV="false" rot="0">
            <a:off x="1028700" y="6509713"/>
            <a:ext cx="5259464" cy="1404808"/>
          </a:xfrm>
          <a:custGeom>
            <a:avLst/>
            <a:gdLst/>
            <a:ahLst/>
            <a:cxnLst/>
            <a:rect r="r" b="b" t="t" l="l"/>
            <a:pathLst>
              <a:path h="1404808" w="5259464">
                <a:moveTo>
                  <a:pt x="0" y="0"/>
                </a:moveTo>
                <a:lnTo>
                  <a:pt x="5259464" y="0"/>
                </a:lnTo>
                <a:lnTo>
                  <a:pt x="5259464" y="1404808"/>
                </a:lnTo>
                <a:lnTo>
                  <a:pt x="0" y="1404808"/>
                </a:lnTo>
                <a:lnTo>
                  <a:pt x="0" y="0"/>
                </a:lnTo>
                <a:close/>
              </a:path>
            </a:pathLst>
          </a:custGeom>
          <a:blipFill>
            <a:blip r:embed="rId5"/>
            <a:stretch>
              <a:fillRect l="0" t="0" r="0" b="0"/>
            </a:stretch>
          </a:blipFill>
        </p:spPr>
      </p:sp>
      <p:sp>
        <p:nvSpPr>
          <p:cNvPr name="TextBox 24" id="24"/>
          <p:cNvSpPr txBox="true"/>
          <p:nvPr/>
        </p:nvSpPr>
        <p:spPr>
          <a:xfrm rot="0">
            <a:off x="555735" y="495300"/>
            <a:ext cx="9996011" cy="53340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FFFFF"/>
                </a:solidFill>
                <a:latin typeface="Tomorrow Bold"/>
                <a:ea typeface="Tomorrow Bold"/>
                <a:cs typeface="Tomorrow Bold"/>
                <a:sym typeface="Tomorrow Bold"/>
              </a:rPr>
              <a:t>Penerapan dan penjelasan kode</a:t>
            </a:r>
          </a:p>
        </p:txBody>
      </p:sp>
      <p:sp>
        <p:nvSpPr>
          <p:cNvPr name="TextBox 25" id="25"/>
          <p:cNvSpPr txBox="true"/>
          <p:nvPr/>
        </p:nvSpPr>
        <p:spPr>
          <a:xfrm rot="0">
            <a:off x="7646776" y="3586833"/>
            <a:ext cx="9557075" cy="1731645"/>
          </a:xfrm>
          <a:prstGeom prst="rect">
            <a:avLst/>
          </a:prstGeom>
        </p:spPr>
        <p:txBody>
          <a:bodyPr anchor="t" rtlCol="false" tIns="0" lIns="0" bIns="0" rIns="0">
            <a:spAutoFit/>
          </a:bodyPr>
          <a:lstStyle/>
          <a:p>
            <a:pPr algn="just" marL="496571" indent="-248285" lvl="1">
              <a:lnSpc>
                <a:spcPts val="3450"/>
              </a:lnSpc>
              <a:buFont typeface="Arial"/>
              <a:buChar char="•"/>
            </a:pPr>
            <a:r>
              <a:rPr lang="en-US" sz="2300">
                <a:solidFill>
                  <a:srgbClr val="FFFFFF"/>
                </a:solidFill>
                <a:latin typeface="Tomorrow"/>
                <a:ea typeface="Tomorrow"/>
                <a:cs typeface="Tomorrow"/>
                <a:sym typeface="Tomorrow"/>
              </a:rPr>
              <a:t>Logistic Regression → model untuk klasifikasi biner (0 atau 1).</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solver='liblinear' → solver yang cocok untuk dataset kecil–menengah.</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Model belajar pola dari fitur terhadap label.</a:t>
            </a:r>
          </a:p>
        </p:txBody>
      </p:sp>
      <p:sp>
        <p:nvSpPr>
          <p:cNvPr name="TextBox 26" id="26"/>
          <p:cNvSpPr txBox="true"/>
          <p:nvPr/>
        </p:nvSpPr>
        <p:spPr>
          <a:xfrm rot="0">
            <a:off x="7035289" y="6328422"/>
            <a:ext cx="10168562" cy="1731645"/>
          </a:xfrm>
          <a:prstGeom prst="rect">
            <a:avLst/>
          </a:prstGeom>
        </p:spPr>
        <p:txBody>
          <a:bodyPr anchor="t" rtlCol="false" tIns="0" lIns="0" bIns="0" rIns="0">
            <a:spAutoFit/>
          </a:bodyPr>
          <a:lstStyle/>
          <a:p>
            <a:pPr algn="just">
              <a:lnSpc>
                <a:spcPts val="3450"/>
              </a:lnSpc>
            </a:pPr>
            <a:r>
              <a:rPr lang="en-US" sz="2300">
                <a:solidFill>
                  <a:srgbClr val="FFFFFF"/>
                </a:solidFill>
                <a:latin typeface="Tomorrow"/>
                <a:ea typeface="Tomorrow"/>
                <a:cs typeface="Tomorrow"/>
                <a:sym typeface="Tomorrow"/>
              </a:rPr>
              <a:t>Digunakan untuk evaluasi:</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test set → nilai akurasi akhir model</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validation set → mendeteksi overfitting</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training set → melihat apakah belajar terlalu kuat atau kurang kuat</a:t>
            </a:r>
          </a:p>
        </p:txBody>
      </p:sp>
    </p:spTree>
  </p:cSld>
  <p:clrMapOvr>
    <a:masterClrMapping/>
  </p:clrMapOvr>
  <p:transition spd="slow">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55735" y="1473720"/>
            <a:ext cx="17155692" cy="8103536"/>
            <a:chOff x="0" y="0"/>
            <a:chExt cx="4518371" cy="2134265"/>
          </a:xfrm>
        </p:grpSpPr>
        <p:sp>
          <p:nvSpPr>
            <p:cNvPr name="Freeform 4" id="4"/>
            <p:cNvSpPr/>
            <p:nvPr/>
          </p:nvSpPr>
          <p:spPr>
            <a:xfrm flipH="false" flipV="false" rot="0">
              <a:off x="0" y="0"/>
              <a:ext cx="4518371" cy="2134264"/>
            </a:xfrm>
            <a:custGeom>
              <a:avLst/>
              <a:gdLst/>
              <a:ahLst/>
              <a:cxnLst/>
              <a:rect r="r" b="b" t="t" l="l"/>
              <a:pathLst>
                <a:path h="2134264" w="4518371">
                  <a:moveTo>
                    <a:pt x="0" y="0"/>
                  </a:moveTo>
                  <a:lnTo>
                    <a:pt x="4518371" y="0"/>
                  </a:lnTo>
                  <a:lnTo>
                    <a:pt x="4518371" y="2134264"/>
                  </a:lnTo>
                  <a:lnTo>
                    <a:pt x="0" y="2134264"/>
                  </a:lnTo>
                  <a:close/>
                </a:path>
              </a:pathLst>
            </a:custGeom>
            <a:solidFill>
              <a:srgbClr val="FFFFFF">
                <a:alpha val="10980"/>
              </a:srgbClr>
            </a:solidFill>
          </p:spPr>
        </p:sp>
        <p:sp>
          <p:nvSpPr>
            <p:cNvPr name="TextBox 5" id="5"/>
            <p:cNvSpPr txBox="true"/>
            <p:nvPr/>
          </p:nvSpPr>
          <p:spPr>
            <a:xfrm>
              <a:off x="0" y="-47625"/>
              <a:ext cx="4518371" cy="218189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grpSp>
        <p:nvGrpSpPr>
          <p:cNvPr name="Group 7" id="7"/>
          <p:cNvGrpSpPr/>
          <p:nvPr/>
        </p:nvGrpSpPr>
        <p:grpSpPr>
          <a:xfrm rot="0">
            <a:off x="655040" y="707584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951511" y="9386037"/>
            <a:ext cx="626183" cy="566519"/>
            <a:chOff x="0" y="0"/>
            <a:chExt cx="164921" cy="149207"/>
          </a:xfrm>
        </p:grpSpPr>
        <p:sp>
          <p:nvSpPr>
            <p:cNvPr name="Freeform 11" id="11"/>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2" id="12"/>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2270217" y="9370154"/>
            <a:ext cx="310192" cy="299142"/>
            <a:chOff x="0" y="0"/>
            <a:chExt cx="81697" cy="78786"/>
          </a:xfrm>
        </p:grpSpPr>
        <p:sp>
          <p:nvSpPr>
            <p:cNvPr name="Freeform 14" id="1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5" id="1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579665" y="2006683"/>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4344007" y="2669282"/>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028700" y="1533886"/>
            <a:ext cx="7160561" cy="8043369"/>
          </a:xfrm>
          <a:custGeom>
            <a:avLst/>
            <a:gdLst/>
            <a:ahLst/>
            <a:cxnLst/>
            <a:rect r="r" b="b" t="t" l="l"/>
            <a:pathLst>
              <a:path h="8043369" w="7160561">
                <a:moveTo>
                  <a:pt x="0" y="0"/>
                </a:moveTo>
                <a:lnTo>
                  <a:pt x="7160561" y="0"/>
                </a:lnTo>
                <a:lnTo>
                  <a:pt x="7160561" y="8043369"/>
                </a:lnTo>
                <a:lnTo>
                  <a:pt x="0" y="8043369"/>
                </a:lnTo>
                <a:lnTo>
                  <a:pt x="0" y="0"/>
                </a:lnTo>
                <a:close/>
              </a:path>
            </a:pathLst>
          </a:custGeom>
          <a:blipFill>
            <a:blip r:embed="rId4"/>
            <a:stretch>
              <a:fillRect l="0" t="0" r="0" b="0"/>
            </a:stretch>
          </a:blipFill>
        </p:spPr>
      </p:sp>
      <p:sp>
        <p:nvSpPr>
          <p:cNvPr name="TextBox 23" id="23"/>
          <p:cNvSpPr txBox="true"/>
          <p:nvPr/>
        </p:nvSpPr>
        <p:spPr>
          <a:xfrm rot="0">
            <a:off x="555735" y="495300"/>
            <a:ext cx="9996011" cy="53340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FFFFFF"/>
                </a:solidFill>
                <a:latin typeface="Tomorrow Bold"/>
                <a:ea typeface="Tomorrow Bold"/>
                <a:cs typeface="Tomorrow Bold"/>
                <a:sym typeface="Tomorrow Bold"/>
              </a:rPr>
              <a:t>Penerapan dan penjelasan kode</a:t>
            </a:r>
          </a:p>
        </p:txBody>
      </p:sp>
      <p:sp>
        <p:nvSpPr>
          <p:cNvPr name="TextBox 24" id="24"/>
          <p:cNvSpPr txBox="true"/>
          <p:nvPr/>
        </p:nvSpPr>
        <p:spPr>
          <a:xfrm rot="0">
            <a:off x="8573336" y="1365401"/>
            <a:ext cx="8944380" cy="7865745"/>
          </a:xfrm>
          <a:prstGeom prst="rect">
            <a:avLst/>
          </a:prstGeom>
        </p:spPr>
        <p:txBody>
          <a:bodyPr anchor="t" rtlCol="false" tIns="0" lIns="0" bIns="0" rIns="0">
            <a:spAutoFit/>
          </a:bodyPr>
          <a:lstStyle/>
          <a:p>
            <a:pPr algn="just">
              <a:lnSpc>
                <a:spcPts val="3450"/>
              </a:lnSpc>
            </a:pPr>
            <a:r>
              <a:rPr lang="en-US" sz="2300">
                <a:solidFill>
                  <a:srgbClr val="FFFFFF"/>
                </a:solidFill>
                <a:latin typeface="Tomorrow"/>
                <a:ea typeface="Tomorrow"/>
                <a:cs typeface="Tomorrow"/>
                <a:sym typeface="Tomorrow"/>
              </a:rPr>
              <a:t>Dari hasil akurasi test, model berhasil memprediksi dengan benar 91.5% dari data test.</a:t>
            </a:r>
          </a:p>
          <a:p>
            <a:pPr algn="just">
              <a:lnSpc>
                <a:spcPts val="3450"/>
              </a:lnSpc>
            </a:pPr>
            <a:r>
              <a:rPr lang="en-US" sz="2300">
                <a:solidFill>
                  <a:srgbClr val="FFFFFF"/>
                </a:solidFill>
                <a:latin typeface="Tomorrow"/>
                <a:ea typeface="Tomorrow"/>
                <a:cs typeface="Tomorrow"/>
                <a:sym typeface="Tomorrow"/>
              </a:rPr>
              <a:t>Confusion matrix Prediksi \ Asli 0 1 Prediksi 0 66 10 Prediksi 1 7 117</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66 → benar tidak diabetes</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117 → benar diabetes</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10 → salah terdeteksi diabetes (false positive)</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7 → salah tidak terdeteksi diabetes (false negative)</a:t>
            </a:r>
          </a:p>
          <a:p>
            <a:pPr algn="just">
              <a:lnSpc>
                <a:spcPts val="3450"/>
              </a:lnSpc>
            </a:pPr>
            <a:r>
              <a:rPr lang="en-US" sz="2300">
                <a:solidFill>
                  <a:srgbClr val="FFFFFF"/>
                </a:solidFill>
                <a:latin typeface="Tomorrow"/>
                <a:ea typeface="Tomorrow"/>
                <a:cs typeface="Tomorrow"/>
                <a:sym typeface="Tomorrow"/>
              </a:rPr>
              <a:t>Classification report Precision, recall, F1-score untuk kelas 0 dan 1:</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Model sangat bagus membedakan dua kelas.</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R</a:t>
            </a:r>
            <a:r>
              <a:rPr lang="en-US" sz="2300">
                <a:solidFill>
                  <a:srgbClr val="FFFFFF"/>
                </a:solidFill>
                <a:latin typeface="Tomorrow"/>
                <a:ea typeface="Tomorrow"/>
                <a:cs typeface="Tomorrow"/>
                <a:sym typeface="Tomorrow"/>
              </a:rPr>
              <a:t>ecall tinggi pada kelas 1 (0.94) → bagus untuk deteksi penyakit.</a:t>
            </a:r>
          </a:p>
          <a:p>
            <a:pPr algn="just">
              <a:lnSpc>
                <a:spcPts val="3450"/>
              </a:lnSpc>
            </a:pPr>
            <a:r>
              <a:rPr lang="en-US" sz="2300">
                <a:solidFill>
                  <a:srgbClr val="FFFFFF"/>
                </a:solidFill>
                <a:latin typeface="Tomorrow"/>
                <a:ea typeface="Tomorrow"/>
                <a:cs typeface="Tomorrow"/>
                <a:sym typeface="Tomorrow"/>
              </a:rPr>
              <a:t>Dari hasil ini, model tidak overfitting dan generalize dengan baik</a:t>
            </a:r>
          </a:p>
          <a:p>
            <a:pPr algn="just">
              <a:lnSpc>
                <a:spcPts val="3450"/>
              </a:lnSpc>
            </a:pPr>
            <a:r>
              <a:rPr lang="en-US" sz="2300">
                <a:solidFill>
                  <a:srgbClr val="FFFFFF"/>
                </a:solidFill>
                <a:latin typeface="Tomorrow"/>
                <a:ea typeface="Tomorrow"/>
                <a:cs typeface="Tomorrow"/>
                <a:sym typeface="Tomorrow"/>
              </a:rPr>
              <a:t>Ciri-ciri tidak overfit:</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Akurasi train &lt; akurasi test → model tidak “belajar berlebihan”</a:t>
            </a:r>
          </a:p>
          <a:p>
            <a:pPr algn="just" marL="496571" indent="-248285" lvl="1">
              <a:lnSpc>
                <a:spcPts val="3450"/>
              </a:lnSpc>
              <a:buFont typeface="Arial"/>
              <a:buChar char="•"/>
            </a:pPr>
            <a:r>
              <a:rPr lang="en-US" sz="2300">
                <a:solidFill>
                  <a:srgbClr val="FFFFFF"/>
                </a:solidFill>
                <a:latin typeface="Tomorrow"/>
                <a:ea typeface="Tomorrow"/>
                <a:cs typeface="Tomorrow"/>
                <a:sym typeface="Tomorrow"/>
              </a:rPr>
              <a:t>Akurasi train vs validation tidak terlalu jauh</a:t>
            </a:r>
          </a:p>
        </p:txBody>
      </p:sp>
    </p:spTree>
  </p:cSld>
  <p:clrMapOvr>
    <a:masterClrMapping/>
  </p:clrMapOvr>
  <p:transition spd="slow">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3189107" y="1028700"/>
            <a:ext cx="13772864" cy="8229600"/>
            <a:chOff x="0" y="0"/>
            <a:chExt cx="3627421" cy="2167467"/>
          </a:xfrm>
        </p:grpSpPr>
        <p:sp>
          <p:nvSpPr>
            <p:cNvPr name="Freeform 4" id="4"/>
            <p:cNvSpPr/>
            <p:nvPr/>
          </p:nvSpPr>
          <p:spPr>
            <a:xfrm flipH="false" flipV="false" rot="0">
              <a:off x="0" y="0"/>
              <a:ext cx="3627421" cy="2167467"/>
            </a:xfrm>
            <a:custGeom>
              <a:avLst/>
              <a:gdLst/>
              <a:ahLst/>
              <a:cxnLst/>
              <a:rect r="r" b="b" t="t" l="l"/>
              <a:pathLst>
                <a:path h="2167467" w="3627421">
                  <a:moveTo>
                    <a:pt x="0" y="0"/>
                  </a:moveTo>
                  <a:lnTo>
                    <a:pt x="3627421" y="0"/>
                  </a:lnTo>
                  <a:lnTo>
                    <a:pt x="3627421" y="2167467"/>
                  </a:lnTo>
                  <a:lnTo>
                    <a:pt x="0" y="2167467"/>
                  </a:lnTo>
                  <a:close/>
                </a:path>
              </a:pathLst>
            </a:custGeom>
            <a:solidFill>
              <a:srgbClr val="FFFFFF">
                <a:alpha val="10980"/>
              </a:srgbClr>
            </a:solidFill>
          </p:spPr>
        </p:sp>
        <p:sp>
          <p:nvSpPr>
            <p:cNvPr name="TextBox 5" id="5"/>
            <p:cNvSpPr txBox="true"/>
            <p:nvPr/>
          </p:nvSpPr>
          <p:spPr>
            <a:xfrm>
              <a:off x="0" y="-47625"/>
              <a:ext cx="3627421" cy="221509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5779" y="7073027"/>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7" id="7"/>
          <p:cNvSpPr/>
          <p:nvPr/>
        </p:nvSpPr>
        <p:spPr>
          <a:xfrm flipH="false" flipV="false" rot="0">
            <a:off x="129291" y="5676507"/>
            <a:ext cx="3678060" cy="3281205"/>
          </a:xfrm>
          <a:custGeom>
            <a:avLst/>
            <a:gdLst/>
            <a:ahLst/>
            <a:cxnLst/>
            <a:rect r="r" b="b" t="t" l="l"/>
            <a:pathLst>
              <a:path h="3281205" w="3678060">
                <a:moveTo>
                  <a:pt x="0" y="0"/>
                </a:moveTo>
                <a:lnTo>
                  <a:pt x="3678059" y="0"/>
                </a:lnTo>
                <a:lnTo>
                  <a:pt x="3678059" y="3281205"/>
                </a:lnTo>
                <a:lnTo>
                  <a:pt x="0" y="3281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5400000">
            <a:off x="16721788" y="7136129"/>
            <a:ext cx="544528" cy="530497"/>
            <a:chOff x="0" y="0"/>
            <a:chExt cx="156117" cy="152094"/>
          </a:xfrm>
        </p:grpSpPr>
        <p:sp>
          <p:nvSpPr>
            <p:cNvPr name="Freeform 9" id="9"/>
            <p:cNvSpPr/>
            <p:nvPr/>
          </p:nvSpPr>
          <p:spPr>
            <a:xfrm flipH="false" flipV="false" rot="0">
              <a:off x="0" y="0"/>
              <a:ext cx="156117" cy="152094"/>
            </a:xfrm>
            <a:custGeom>
              <a:avLst/>
              <a:gdLst/>
              <a:ahLst/>
              <a:cxnLst/>
              <a:rect r="r" b="b" t="t" l="l"/>
              <a:pathLst>
                <a:path h="152094" w="156117">
                  <a:moveTo>
                    <a:pt x="0" y="0"/>
                  </a:moveTo>
                  <a:lnTo>
                    <a:pt x="156117" y="0"/>
                  </a:lnTo>
                  <a:lnTo>
                    <a:pt x="156117" y="152094"/>
                  </a:lnTo>
                  <a:lnTo>
                    <a:pt x="0" y="152094"/>
                  </a:lnTo>
                  <a:close/>
                </a:path>
              </a:pathLst>
            </a:custGeom>
            <a:solidFill>
              <a:srgbClr val="0054C5"/>
            </a:solidFill>
          </p:spPr>
        </p:sp>
        <p:sp>
          <p:nvSpPr>
            <p:cNvPr name="TextBox 10" id="10"/>
            <p:cNvSpPr txBox="true"/>
            <p:nvPr/>
          </p:nvSpPr>
          <p:spPr>
            <a:xfrm>
              <a:off x="0" y="-47625"/>
              <a:ext cx="156117" cy="19971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7429611" y="7877361"/>
            <a:ext cx="427597" cy="438623"/>
            <a:chOff x="0" y="0"/>
            <a:chExt cx="122593" cy="125754"/>
          </a:xfrm>
        </p:grpSpPr>
        <p:sp>
          <p:nvSpPr>
            <p:cNvPr name="Freeform 12" id="12"/>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13" id="13"/>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6419142" y="8311975"/>
            <a:ext cx="311166" cy="308157"/>
            <a:chOff x="0" y="0"/>
            <a:chExt cx="89212" cy="88349"/>
          </a:xfrm>
        </p:grpSpPr>
        <p:sp>
          <p:nvSpPr>
            <p:cNvPr name="Freeform 15" id="15"/>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6" id="16"/>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7650336" y="3710081"/>
            <a:ext cx="311166" cy="308157"/>
            <a:chOff x="0" y="0"/>
            <a:chExt cx="89212" cy="88349"/>
          </a:xfrm>
        </p:grpSpPr>
        <p:sp>
          <p:nvSpPr>
            <p:cNvPr name="Freeform 18" id="18"/>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9" id="19"/>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7958493" y="4796599"/>
            <a:ext cx="311166" cy="308157"/>
            <a:chOff x="0" y="0"/>
            <a:chExt cx="89212" cy="88349"/>
          </a:xfrm>
        </p:grpSpPr>
        <p:sp>
          <p:nvSpPr>
            <p:cNvPr name="Freeform 21" id="21"/>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2" id="22"/>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5400000">
            <a:off x="7200821" y="4408923"/>
            <a:ext cx="311166" cy="308157"/>
            <a:chOff x="0" y="0"/>
            <a:chExt cx="89212" cy="88349"/>
          </a:xfrm>
        </p:grpSpPr>
        <p:sp>
          <p:nvSpPr>
            <p:cNvPr name="Freeform 24" id="24"/>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5" id="25"/>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5482011" y="1354557"/>
            <a:ext cx="9187057"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Kesimpulan</a:t>
            </a:r>
          </a:p>
        </p:txBody>
      </p:sp>
      <p:sp>
        <p:nvSpPr>
          <p:cNvPr name="TextBox 27" id="27"/>
          <p:cNvSpPr txBox="true"/>
          <p:nvPr/>
        </p:nvSpPr>
        <p:spPr>
          <a:xfrm rot="0">
            <a:off x="3664172" y="2472690"/>
            <a:ext cx="12822734" cy="6680835"/>
          </a:xfrm>
          <a:prstGeom prst="rect">
            <a:avLst/>
          </a:prstGeom>
        </p:spPr>
        <p:txBody>
          <a:bodyPr anchor="t" rtlCol="false" tIns="0" lIns="0" bIns="0" rIns="0">
            <a:spAutoFit/>
          </a:bodyPr>
          <a:lstStyle/>
          <a:p>
            <a:pPr algn="just">
              <a:lnSpc>
                <a:spcPts val="2940"/>
              </a:lnSpc>
            </a:pPr>
            <a:r>
              <a:rPr lang="en-US" sz="2100">
                <a:solidFill>
                  <a:srgbClr val="FFFFFF"/>
                </a:solidFill>
                <a:latin typeface="Tomorrow"/>
                <a:ea typeface="Tomorrow"/>
                <a:cs typeface="Tomorrow"/>
                <a:sym typeface="Tomorrow"/>
              </a:rPr>
              <a:t>    Dari proses analisis dan pembangunan model di atas, dapat disimpulkan bahwa Logistic Regression merupakan metode yang tepat untuk memprediksi kemungkinan seseorang terkena diabetes berdasarkan kombinasi variabel klinis (seperti BMI, Glucose, Cholesterol, dan BloodPressure) serta variabel risiko (seperti Age, Gender, Heredity, dan Smoking). Dataset yang digunakan bersih, lengkap, seluruh kolom bertipe numerik, dan memiliki 1000 sampel dengan 8 fitur serta 1 label sehingga memenuhi syarat untuk digunakan pada Logistic Regression.</a:t>
            </a:r>
          </a:p>
          <a:p>
            <a:pPr algn="just">
              <a:lnSpc>
                <a:spcPts val="2940"/>
              </a:lnSpc>
            </a:pPr>
          </a:p>
          <a:p>
            <a:pPr algn="just">
              <a:lnSpc>
                <a:spcPts val="2940"/>
              </a:lnSpc>
            </a:pPr>
            <a:r>
              <a:rPr lang="en-US" sz="2100">
                <a:solidFill>
                  <a:srgbClr val="FFFFFF"/>
                </a:solidFill>
                <a:latin typeface="Tomorrow"/>
                <a:ea typeface="Tomorrow"/>
                <a:cs typeface="Tomorrow"/>
                <a:sym typeface="Tomorrow"/>
              </a:rPr>
              <a:t>     Model dilatih menggunakan pembagian data yang seimbang dan terkontrol melalui train-test split serta stratify, sehingga proporsi kelas tetap stabil. Hasil evaluasi menunjukkan performa yang sangat baik dengan akurasi 91.5% pada data uji, didukung oleh nilai recall yang tinggi pada kelas 1 (diabetes), yang penting untuk deteksi penyakit. Confusion matrix menunjukkan jumlah prediksi benar jauh lebih banyak dibandingkan kesalahan, dan tidak ada indikasi overfitting karena performa data training dan testing konsisten.</a:t>
            </a:r>
          </a:p>
          <a:p>
            <a:pPr algn="just">
              <a:lnSpc>
                <a:spcPts val="2940"/>
              </a:lnSpc>
            </a:pPr>
          </a:p>
          <a:p>
            <a:pPr algn="just">
              <a:lnSpc>
                <a:spcPts val="2940"/>
              </a:lnSpc>
            </a:pPr>
            <a:r>
              <a:rPr lang="en-US" sz="2100">
                <a:solidFill>
                  <a:srgbClr val="FFFFFF"/>
                </a:solidFill>
                <a:latin typeface="Tomorrow"/>
                <a:ea typeface="Tomorrow"/>
                <a:cs typeface="Tomorrow"/>
                <a:sym typeface="Tomorrow"/>
              </a:rPr>
              <a:t>    Secara keseluruhan, model Logistic Regression ini mampu mempelajari pola dari variabel klinis dan faktor risiko dengan baik sehingga dapat digunakan untuk memprediksi diagnosis diabetes secara akurat dan stabil.</a:t>
            </a:r>
          </a:p>
          <a:p>
            <a:pPr algn="just">
              <a:lnSpc>
                <a:spcPts val="2940"/>
              </a:lnSpc>
            </a:pPr>
          </a:p>
        </p:txBody>
      </p:sp>
    </p:spTree>
  </p:cSld>
  <p:clrMapOvr>
    <a:masterClrMapping/>
  </p:clrMapOvr>
  <p:transition spd="slow">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307883" y="1762898"/>
            <a:ext cx="9951417" cy="7306675"/>
            <a:chOff x="0" y="0"/>
            <a:chExt cx="2620949" cy="1924392"/>
          </a:xfrm>
        </p:grpSpPr>
        <p:sp>
          <p:nvSpPr>
            <p:cNvPr name="Freeform 4" id="4"/>
            <p:cNvSpPr/>
            <p:nvPr/>
          </p:nvSpPr>
          <p:spPr>
            <a:xfrm flipH="false" flipV="false" rot="0">
              <a:off x="0" y="0"/>
              <a:ext cx="2620949" cy="1924392"/>
            </a:xfrm>
            <a:custGeom>
              <a:avLst/>
              <a:gdLst/>
              <a:ahLst/>
              <a:cxnLst/>
              <a:rect r="r" b="b" t="t" l="l"/>
              <a:pathLst>
                <a:path h="1924392" w="2620949">
                  <a:moveTo>
                    <a:pt x="0" y="0"/>
                  </a:moveTo>
                  <a:lnTo>
                    <a:pt x="2620949" y="0"/>
                  </a:lnTo>
                  <a:lnTo>
                    <a:pt x="2620949" y="1924392"/>
                  </a:lnTo>
                  <a:lnTo>
                    <a:pt x="0" y="1924392"/>
                  </a:lnTo>
                  <a:close/>
                </a:path>
              </a:pathLst>
            </a:custGeom>
            <a:solidFill>
              <a:srgbClr val="FFFFFF">
                <a:alpha val="10980"/>
              </a:srgbClr>
            </a:solidFill>
          </p:spPr>
        </p:sp>
        <p:sp>
          <p:nvSpPr>
            <p:cNvPr name="TextBox 5" id="5"/>
            <p:cNvSpPr txBox="true"/>
            <p:nvPr/>
          </p:nvSpPr>
          <p:spPr>
            <a:xfrm>
              <a:off x="0" y="-47625"/>
              <a:ext cx="2620949"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false" rot="-10800000">
            <a:off x="-665027" y="-732621"/>
            <a:ext cx="6304504" cy="3522642"/>
          </a:xfrm>
          <a:custGeom>
            <a:avLst/>
            <a:gdLst/>
            <a:ahLst/>
            <a:cxnLst/>
            <a:rect r="r" b="b" t="t" l="l"/>
            <a:pathLst>
              <a:path h="3522642" w="6304504">
                <a:moveTo>
                  <a:pt x="6304504" y="0"/>
                </a:moveTo>
                <a:lnTo>
                  <a:pt x="0" y="0"/>
                </a:lnTo>
                <a:lnTo>
                  <a:pt x="0" y="3522642"/>
                </a:lnTo>
                <a:lnTo>
                  <a:pt x="6304504" y="3522642"/>
                </a:lnTo>
                <a:lnTo>
                  <a:pt x="6304504" y="0"/>
                </a:lnTo>
                <a:close/>
              </a:path>
            </a:pathLst>
          </a:custGeom>
          <a:blipFill>
            <a:blip r:embed="rId3"/>
            <a:stretch>
              <a:fillRect l="0" t="0" r="0" b="0"/>
            </a:stretch>
          </a:blipFill>
        </p:spPr>
      </p:sp>
      <p:sp>
        <p:nvSpPr>
          <p:cNvPr name="Freeform 7" id="7"/>
          <p:cNvSpPr/>
          <p:nvPr/>
        </p:nvSpPr>
        <p:spPr>
          <a:xfrm flipH="false" flipV="false" rot="0">
            <a:off x="615110" y="4431004"/>
            <a:ext cx="5514422" cy="4638569"/>
          </a:xfrm>
          <a:custGeom>
            <a:avLst/>
            <a:gdLst/>
            <a:ahLst/>
            <a:cxnLst/>
            <a:rect r="r" b="b" t="t" l="l"/>
            <a:pathLst>
              <a:path h="4638569" w="5514422">
                <a:moveTo>
                  <a:pt x="0" y="0"/>
                </a:moveTo>
                <a:lnTo>
                  <a:pt x="5514422" y="0"/>
                </a:lnTo>
                <a:lnTo>
                  <a:pt x="5514422" y="4638569"/>
                </a:lnTo>
                <a:lnTo>
                  <a:pt x="0" y="46385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8512220" y="4651049"/>
            <a:ext cx="7542744" cy="880127"/>
          </a:xfrm>
          <a:prstGeom prst="rect">
            <a:avLst/>
          </a:prstGeom>
        </p:spPr>
        <p:txBody>
          <a:bodyPr anchor="t" rtlCol="false" tIns="0" lIns="0" bIns="0" rIns="0">
            <a:spAutoFit/>
          </a:bodyPr>
          <a:lstStyle/>
          <a:p>
            <a:pPr algn="ctr" marL="0" indent="0" lvl="0">
              <a:lnSpc>
                <a:spcPts val="7139"/>
              </a:lnSpc>
              <a:spcBef>
                <a:spcPct val="0"/>
              </a:spcBef>
            </a:pPr>
            <a:r>
              <a:rPr lang="en-US" b="true" sz="5099">
                <a:solidFill>
                  <a:srgbClr val="FFFFFF"/>
                </a:solidFill>
                <a:latin typeface="Tomorrow Bold"/>
                <a:ea typeface="Tomorrow Bold"/>
                <a:cs typeface="Tomorrow Bold"/>
                <a:sym typeface="Tomorrow Bold"/>
              </a:rPr>
              <a:t>TERIMAKASIH</a:t>
            </a:r>
          </a:p>
        </p:txBody>
      </p:sp>
      <p:grpSp>
        <p:nvGrpSpPr>
          <p:cNvPr name="Group 9" id="9"/>
          <p:cNvGrpSpPr/>
          <p:nvPr/>
        </p:nvGrpSpPr>
        <p:grpSpPr>
          <a:xfrm rot="-5400000">
            <a:off x="6139221" y="3290237"/>
            <a:ext cx="686516" cy="705894"/>
            <a:chOff x="0" y="0"/>
            <a:chExt cx="196825" cy="202381"/>
          </a:xfrm>
        </p:grpSpPr>
        <p:sp>
          <p:nvSpPr>
            <p:cNvPr name="Freeform 10" id="10"/>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1" id="11"/>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5400000">
            <a:off x="7083521" y="2507921"/>
            <a:ext cx="575234" cy="520425"/>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7531346" y="3856024"/>
            <a:ext cx="284953" cy="274803"/>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5400000">
            <a:off x="17116823" y="7881739"/>
            <a:ext cx="284953" cy="274803"/>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5400000">
            <a:off x="16383171" y="8506938"/>
            <a:ext cx="284953" cy="274803"/>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transition spd="slow">
    <p:cover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DAG5xix85-I</dc:identifier>
  <dcterms:modified xsi:type="dcterms:W3CDTF">2011-08-01T06:04:30Z</dcterms:modified>
  <cp:revision>1</cp:revision>
  <dc:title>Kode Program Logistik Regression-Data Science 5A</dc:title>
</cp:coreProperties>
</file>