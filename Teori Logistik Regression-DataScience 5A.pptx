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omorrow" charset="1" panose="00000000000000000000"/>
      <p:regular r:id="rId16"/>
    </p:embeddedFont>
    <p:embeddedFont>
      <p:font typeface="Tomorrow Bold" charset="1" panose="000000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svg" Type="http://schemas.openxmlformats.org/officeDocument/2006/relationships/image"/><Relationship Id="rId2" Target="../media/image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6.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6.pn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20.png" Type="http://schemas.openxmlformats.org/officeDocument/2006/relationships/image"/><Relationship Id="rId9" Target="../media/image2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245893" y="2815290"/>
            <a:ext cx="13796213" cy="4656421"/>
            <a:chOff x="0" y="0"/>
            <a:chExt cx="3633571" cy="1226382"/>
          </a:xfrm>
        </p:grpSpPr>
        <p:sp>
          <p:nvSpPr>
            <p:cNvPr name="Freeform 4" id="4"/>
            <p:cNvSpPr/>
            <p:nvPr/>
          </p:nvSpPr>
          <p:spPr>
            <a:xfrm flipH="false" flipV="false" rot="0">
              <a:off x="0" y="0"/>
              <a:ext cx="3633570" cy="1226382"/>
            </a:xfrm>
            <a:custGeom>
              <a:avLst/>
              <a:gdLst/>
              <a:ahLst/>
              <a:cxnLst/>
              <a:rect r="r" b="b" t="t" l="l"/>
              <a:pathLst>
                <a:path h="1226382" w="3633570">
                  <a:moveTo>
                    <a:pt x="0" y="0"/>
                  </a:moveTo>
                  <a:lnTo>
                    <a:pt x="3633570" y="0"/>
                  </a:lnTo>
                  <a:lnTo>
                    <a:pt x="3633570" y="1226382"/>
                  </a:lnTo>
                  <a:lnTo>
                    <a:pt x="0" y="1226382"/>
                  </a:lnTo>
                  <a:close/>
                </a:path>
              </a:pathLst>
            </a:custGeom>
            <a:solidFill>
              <a:srgbClr val="FFFFFF">
                <a:alpha val="10980"/>
              </a:srgbClr>
            </a:solidFill>
          </p:spPr>
        </p:sp>
        <p:sp>
          <p:nvSpPr>
            <p:cNvPr name="TextBox 5" id="5"/>
            <p:cNvSpPr txBox="true"/>
            <p:nvPr/>
          </p:nvSpPr>
          <p:spPr>
            <a:xfrm>
              <a:off x="0" y="-47625"/>
              <a:ext cx="3633571" cy="1274007"/>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1304065">
            <a:off x="1156142" y="1120447"/>
            <a:ext cx="2686742" cy="3001440"/>
          </a:xfrm>
          <a:custGeom>
            <a:avLst/>
            <a:gdLst/>
            <a:ahLst/>
            <a:cxnLst/>
            <a:rect r="r" b="b" t="t" l="l"/>
            <a:pathLst>
              <a:path h="3001440" w="2686742">
                <a:moveTo>
                  <a:pt x="0" y="0"/>
                </a:moveTo>
                <a:lnTo>
                  <a:pt x="2686741" y="0"/>
                </a:lnTo>
                <a:lnTo>
                  <a:pt x="2686741" y="3001441"/>
                </a:lnTo>
                <a:lnTo>
                  <a:pt x="0" y="30014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541450">
            <a:off x="14149825" y="6104506"/>
            <a:ext cx="2615300" cy="2761785"/>
          </a:xfrm>
          <a:custGeom>
            <a:avLst/>
            <a:gdLst/>
            <a:ahLst/>
            <a:cxnLst/>
            <a:rect r="r" b="b" t="t" l="l"/>
            <a:pathLst>
              <a:path h="2761785" w="2615300">
                <a:moveTo>
                  <a:pt x="0" y="0"/>
                </a:moveTo>
                <a:lnTo>
                  <a:pt x="2615300" y="0"/>
                </a:lnTo>
                <a:lnTo>
                  <a:pt x="2615300" y="2761785"/>
                </a:lnTo>
                <a:lnTo>
                  <a:pt x="0" y="27617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2974608" y="5112397"/>
            <a:ext cx="12400129" cy="873199"/>
          </a:xfrm>
          <a:prstGeom prst="rect">
            <a:avLst/>
          </a:prstGeom>
        </p:spPr>
        <p:txBody>
          <a:bodyPr anchor="t" rtlCol="false" tIns="0" lIns="0" bIns="0" rIns="0">
            <a:spAutoFit/>
          </a:bodyPr>
          <a:lstStyle/>
          <a:p>
            <a:pPr algn="ctr">
              <a:lnSpc>
                <a:spcPts val="7000"/>
              </a:lnSpc>
            </a:pPr>
            <a:r>
              <a:rPr lang="en-US" sz="5000">
                <a:solidFill>
                  <a:srgbClr val="FFFFFF"/>
                </a:solidFill>
                <a:latin typeface="Tomorrow"/>
                <a:ea typeface="Tomorrow"/>
                <a:cs typeface="Tomorrow"/>
                <a:sym typeface="Tomorrow"/>
              </a:rPr>
              <a:t>Model Machine Learning</a:t>
            </a:r>
          </a:p>
        </p:txBody>
      </p:sp>
      <p:sp>
        <p:nvSpPr>
          <p:cNvPr name="TextBox 9" id="9"/>
          <p:cNvSpPr txBox="true"/>
          <p:nvPr/>
        </p:nvSpPr>
        <p:spPr>
          <a:xfrm rot="0">
            <a:off x="1954353" y="4168054"/>
            <a:ext cx="14379293" cy="1047676"/>
          </a:xfrm>
          <a:prstGeom prst="rect">
            <a:avLst/>
          </a:prstGeom>
        </p:spPr>
        <p:txBody>
          <a:bodyPr anchor="t" rtlCol="false" tIns="0" lIns="0" bIns="0" rIns="0">
            <a:spAutoFit/>
          </a:bodyPr>
          <a:lstStyle/>
          <a:p>
            <a:pPr algn="ctr" marL="0" indent="0" lvl="0">
              <a:lnSpc>
                <a:spcPts val="8400"/>
              </a:lnSpc>
              <a:spcBef>
                <a:spcPct val="0"/>
              </a:spcBef>
            </a:pPr>
            <a:r>
              <a:rPr lang="en-US" b="true" sz="6000">
                <a:solidFill>
                  <a:srgbClr val="FFFFFF"/>
                </a:solidFill>
                <a:latin typeface="Tomorrow Bold"/>
                <a:ea typeface="Tomorrow Bold"/>
                <a:cs typeface="Tomorrow Bold"/>
                <a:sym typeface="Tomorrow Bold"/>
              </a:rPr>
              <a:t>LOGISTIK REGRESSION</a:t>
            </a:r>
          </a:p>
        </p:txBody>
      </p:sp>
      <p:sp>
        <p:nvSpPr>
          <p:cNvPr name="Freeform 10" id="10"/>
          <p:cNvSpPr/>
          <p:nvPr/>
        </p:nvSpPr>
        <p:spPr>
          <a:xfrm flipH="false" flipV="false" rot="0">
            <a:off x="-496166" y="7993829"/>
            <a:ext cx="4526072" cy="2528943"/>
          </a:xfrm>
          <a:custGeom>
            <a:avLst/>
            <a:gdLst/>
            <a:ahLst/>
            <a:cxnLst/>
            <a:rect r="r" b="b" t="t" l="l"/>
            <a:pathLst>
              <a:path h="2528943" w="4526072">
                <a:moveTo>
                  <a:pt x="0" y="0"/>
                </a:moveTo>
                <a:lnTo>
                  <a:pt x="4526072" y="0"/>
                </a:lnTo>
                <a:lnTo>
                  <a:pt x="4526072" y="2528942"/>
                </a:lnTo>
                <a:lnTo>
                  <a:pt x="0" y="2528942"/>
                </a:lnTo>
                <a:lnTo>
                  <a:pt x="0" y="0"/>
                </a:lnTo>
                <a:close/>
              </a:path>
            </a:pathLst>
          </a:custGeom>
          <a:blipFill>
            <a:blip r:embed="rId7"/>
            <a:stretch>
              <a:fillRect l="0" t="0" r="0" b="0"/>
            </a:stretch>
          </a:blipFill>
        </p:spPr>
      </p:sp>
      <p:sp>
        <p:nvSpPr>
          <p:cNvPr name="Freeform 11" id="11"/>
          <p:cNvSpPr/>
          <p:nvPr/>
        </p:nvSpPr>
        <p:spPr>
          <a:xfrm flipH="false" flipV="false" rot="-10800000">
            <a:off x="14192633" y="-235771"/>
            <a:ext cx="4526072" cy="2528943"/>
          </a:xfrm>
          <a:custGeom>
            <a:avLst/>
            <a:gdLst/>
            <a:ahLst/>
            <a:cxnLst/>
            <a:rect r="r" b="b" t="t" l="l"/>
            <a:pathLst>
              <a:path h="2528943" w="4526072">
                <a:moveTo>
                  <a:pt x="0" y="0"/>
                </a:moveTo>
                <a:lnTo>
                  <a:pt x="4526072" y="0"/>
                </a:lnTo>
                <a:lnTo>
                  <a:pt x="4526072" y="2528942"/>
                </a:lnTo>
                <a:lnTo>
                  <a:pt x="0" y="2528942"/>
                </a:lnTo>
                <a:lnTo>
                  <a:pt x="0" y="0"/>
                </a:lnTo>
                <a:close/>
              </a:path>
            </a:pathLst>
          </a:custGeom>
          <a:blipFill>
            <a:blip r:embed="rId7"/>
            <a:stretch>
              <a:fillRect l="0" t="0" r="0" b="0"/>
            </a:stretch>
          </a:blipFill>
        </p:spPr>
      </p:sp>
      <p:grpSp>
        <p:nvGrpSpPr>
          <p:cNvPr name="Group 12" id="12"/>
          <p:cNvGrpSpPr/>
          <p:nvPr/>
        </p:nvGrpSpPr>
        <p:grpSpPr>
          <a:xfrm rot="0">
            <a:off x="15729015" y="4202312"/>
            <a:ext cx="626183" cy="620693"/>
            <a:chOff x="0" y="0"/>
            <a:chExt cx="164921" cy="163475"/>
          </a:xfrm>
        </p:grpSpPr>
        <p:sp>
          <p:nvSpPr>
            <p:cNvPr name="Freeform 13" id="13"/>
            <p:cNvSpPr/>
            <p:nvPr/>
          </p:nvSpPr>
          <p:spPr>
            <a:xfrm flipH="false" flipV="false" rot="0">
              <a:off x="0" y="0"/>
              <a:ext cx="164921" cy="163475"/>
            </a:xfrm>
            <a:custGeom>
              <a:avLst/>
              <a:gdLst/>
              <a:ahLst/>
              <a:cxnLst/>
              <a:rect r="r" b="b" t="t" l="l"/>
              <a:pathLst>
                <a:path h="163475" w="164921">
                  <a:moveTo>
                    <a:pt x="0" y="0"/>
                  </a:moveTo>
                  <a:lnTo>
                    <a:pt x="164921" y="0"/>
                  </a:lnTo>
                  <a:lnTo>
                    <a:pt x="164921" y="163475"/>
                  </a:lnTo>
                  <a:lnTo>
                    <a:pt x="0" y="163475"/>
                  </a:lnTo>
                  <a:close/>
                </a:path>
              </a:pathLst>
            </a:custGeom>
            <a:solidFill>
              <a:srgbClr val="0054C5"/>
            </a:solidFill>
          </p:spPr>
        </p:sp>
        <p:sp>
          <p:nvSpPr>
            <p:cNvPr name="TextBox 14" id="14"/>
            <p:cNvSpPr txBox="true"/>
            <p:nvPr/>
          </p:nvSpPr>
          <p:spPr>
            <a:xfrm>
              <a:off x="0" y="-47625"/>
              <a:ext cx="164921" cy="2111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6787048" y="5143500"/>
            <a:ext cx="418486" cy="397926"/>
            <a:chOff x="0" y="0"/>
            <a:chExt cx="110219" cy="104803"/>
          </a:xfrm>
        </p:grpSpPr>
        <p:sp>
          <p:nvSpPr>
            <p:cNvPr name="Freeform 16" id="16"/>
            <p:cNvSpPr/>
            <p:nvPr/>
          </p:nvSpPr>
          <p:spPr>
            <a:xfrm flipH="false" flipV="false" rot="0">
              <a:off x="0" y="0"/>
              <a:ext cx="110219" cy="104803"/>
            </a:xfrm>
            <a:custGeom>
              <a:avLst/>
              <a:gdLst/>
              <a:ahLst/>
              <a:cxnLst/>
              <a:rect r="r" b="b" t="t" l="l"/>
              <a:pathLst>
                <a:path h="104803" w="110219">
                  <a:moveTo>
                    <a:pt x="0" y="0"/>
                  </a:moveTo>
                  <a:lnTo>
                    <a:pt x="110219" y="0"/>
                  </a:lnTo>
                  <a:lnTo>
                    <a:pt x="110219" y="104803"/>
                  </a:lnTo>
                  <a:lnTo>
                    <a:pt x="0" y="104803"/>
                  </a:lnTo>
                  <a:close/>
                </a:path>
              </a:pathLst>
            </a:custGeom>
            <a:solidFill>
              <a:srgbClr val="0054C5"/>
            </a:solidFill>
          </p:spPr>
        </p:sp>
        <p:sp>
          <p:nvSpPr>
            <p:cNvPr name="TextBox 17" id="17"/>
            <p:cNvSpPr txBox="true"/>
            <p:nvPr/>
          </p:nvSpPr>
          <p:spPr>
            <a:xfrm>
              <a:off x="0" y="-47625"/>
              <a:ext cx="110219" cy="152428"/>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5936712" y="5668780"/>
            <a:ext cx="291131" cy="270571"/>
            <a:chOff x="0" y="0"/>
            <a:chExt cx="76677" cy="71261"/>
          </a:xfrm>
        </p:grpSpPr>
        <p:sp>
          <p:nvSpPr>
            <p:cNvPr name="Freeform 19" id="19"/>
            <p:cNvSpPr/>
            <p:nvPr/>
          </p:nvSpPr>
          <p:spPr>
            <a:xfrm flipH="false" flipV="false" rot="0">
              <a:off x="0" y="0"/>
              <a:ext cx="76677" cy="71261"/>
            </a:xfrm>
            <a:custGeom>
              <a:avLst/>
              <a:gdLst/>
              <a:ahLst/>
              <a:cxnLst/>
              <a:rect r="r" b="b" t="t" l="l"/>
              <a:pathLst>
                <a:path h="71261" w="76677">
                  <a:moveTo>
                    <a:pt x="0" y="0"/>
                  </a:moveTo>
                  <a:lnTo>
                    <a:pt x="76677" y="0"/>
                  </a:lnTo>
                  <a:lnTo>
                    <a:pt x="76677" y="71261"/>
                  </a:lnTo>
                  <a:lnTo>
                    <a:pt x="0" y="71261"/>
                  </a:lnTo>
                  <a:close/>
                </a:path>
              </a:pathLst>
            </a:custGeom>
            <a:solidFill>
              <a:srgbClr val="0054C5"/>
            </a:solidFill>
          </p:spPr>
        </p:sp>
        <p:sp>
          <p:nvSpPr>
            <p:cNvPr name="TextBox 20" id="20"/>
            <p:cNvSpPr txBox="true"/>
            <p:nvPr/>
          </p:nvSpPr>
          <p:spPr>
            <a:xfrm>
              <a:off x="0" y="-47625"/>
              <a:ext cx="76677" cy="118886"/>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2036650" y="6169297"/>
            <a:ext cx="418486" cy="397926"/>
            <a:chOff x="0" y="0"/>
            <a:chExt cx="110219" cy="104803"/>
          </a:xfrm>
        </p:grpSpPr>
        <p:sp>
          <p:nvSpPr>
            <p:cNvPr name="Freeform 22" id="22"/>
            <p:cNvSpPr/>
            <p:nvPr/>
          </p:nvSpPr>
          <p:spPr>
            <a:xfrm flipH="false" flipV="false" rot="0">
              <a:off x="0" y="0"/>
              <a:ext cx="110219" cy="104803"/>
            </a:xfrm>
            <a:custGeom>
              <a:avLst/>
              <a:gdLst/>
              <a:ahLst/>
              <a:cxnLst/>
              <a:rect r="r" b="b" t="t" l="l"/>
              <a:pathLst>
                <a:path h="104803" w="110219">
                  <a:moveTo>
                    <a:pt x="0" y="0"/>
                  </a:moveTo>
                  <a:lnTo>
                    <a:pt x="110219" y="0"/>
                  </a:lnTo>
                  <a:lnTo>
                    <a:pt x="110219" y="104803"/>
                  </a:lnTo>
                  <a:lnTo>
                    <a:pt x="0" y="104803"/>
                  </a:lnTo>
                  <a:close/>
                </a:path>
              </a:pathLst>
            </a:custGeom>
            <a:solidFill>
              <a:srgbClr val="0054C5"/>
            </a:solidFill>
          </p:spPr>
        </p:sp>
        <p:sp>
          <p:nvSpPr>
            <p:cNvPr name="TextBox 23" id="23"/>
            <p:cNvSpPr txBox="true"/>
            <p:nvPr/>
          </p:nvSpPr>
          <p:spPr>
            <a:xfrm>
              <a:off x="0" y="-47625"/>
              <a:ext cx="110219" cy="152428"/>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2652804" y="6886583"/>
            <a:ext cx="291131" cy="270571"/>
            <a:chOff x="0" y="0"/>
            <a:chExt cx="76677" cy="71261"/>
          </a:xfrm>
        </p:grpSpPr>
        <p:sp>
          <p:nvSpPr>
            <p:cNvPr name="Freeform 25" id="25"/>
            <p:cNvSpPr/>
            <p:nvPr/>
          </p:nvSpPr>
          <p:spPr>
            <a:xfrm flipH="false" flipV="false" rot="0">
              <a:off x="0" y="0"/>
              <a:ext cx="76677" cy="71261"/>
            </a:xfrm>
            <a:custGeom>
              <a:avLst/>
              <a:gdLst/>
              <a:ahLst/>
              <a:cxnLst/>
              <a:rect r="r" b="b" t="t" l="l"/>
              <a:pathLst>
                <a:path h="71261" w="76677">
                  <a:moveTo>
                    <a:pt x="0" y="0"/>
                  </a:moveTo>
                  <a:lnTo>
                    <a:pt x="76677" y="0"/>
                  </a:lnTo>
                  <a:lnTo>
                    <a:pt x="76677" y="71261"/>
                  </a:lnTo>
                  <a:lnTo>
                    <a:pt x="0" y="71261"/>
                  </a:lnTo>
                  <a:close/>
                </a:path>
              </a:pathLst>
            </a:custGeom>
            <a:solidFill>
              <a:srgbClr val="0054C5"/>
            </a:solidFill>
          </p:spPr>
        </p:sp>
        <p:sp>
          <p:nvSpPr>
            <p:cNvPr name="TextBox 26" id="26"/>
            <p:cNvSpPr txBox="true"/>
            <p:nvPr/>
          </p:nvSpPr>
          <p:spPr>
            <a:xfrm>
              <a:off x="0" y="-47625"/>
              <a:ext cx="76677" cy="118886"/>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2036650" y="7350113"/>
            <a:ext cx="291131" cy="270571"/>
            <a:chOff x="0" y="0"/>
            <a:chExt cx="76677" cy="71261"/>
          </a:xfrm>
        </p:grpSpPr>
        <p:sp>
          <p:nvSpPr>
            <p:cNvPr name="Freeform 28" id="28"/>
            <p:cNvSpPr/>
            <p:nvPr/>
          </p:nvSpPr>
          <p:spPr>
            <a:xfrm flipH="false" flipV="false" rot="0">
              <a:off x="0" y="0"/>
              <a:ext cx="76677" cy="71261"/>
            </a:xfrm>
            <a:custGeom>
              <a:avLst/>
              <a:gdLst/>
              <a:ahLst/>
              <a:cxnLst/>
              <a:rect r="r" b="b" t="t" l="l"/>
              <a:pathLst>
                <a:path h="71261" w="76677">
                  <a:moveTo>
                    <a:pt x="0" y="0"/>
                  </a:moveTo>
                  <a:lnTo>
                    <a:pt x="76677" y="0"/>
                  </a:lnTo>
                  <a:lnTo>
                    <a:pt x="76677" y="71261"/>
                  </a:lnTo>
                  <a:lnTo>
                    <a:pt x="0" y="71261"/>
                  </a:lnTo>
                  <a:close/>
                </a:path>
              </a:pathLst>
            </a:custGeom>
            <a:solidFill>
              <a:srgbClr val="0054C5"/>
            </a:solidFill>
          </p:spPr>
        </p:sp>
        <p:sp>
          <p:nvSpPr>
            <p:cNvPr name="TextBox 29" id="29"/>
            <p:cNvSpPr txBox="true"/>
            <p:nvPr/>
          </p:nvSpPr>
          <p:spPr>
            <a:xfrm>
              <a:off x="0" y="-47625"/>
              <a:ext cx="76677" cy="118886"/>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6022790" y="9201150"/>
            <a:ext cx="6242420" cy="869950"/>
          </a:xfrm>
          <a:prstGeom prst="rect">
            <a:avLst/>
          </a:prstGeom>
        </p:spPr>
        <p:txBody>
          <a:bodyPr anchor="t" rtlCol="false" tIns="0" lIns="0" bIns="0" rIns="0">
            <a:spAutoFit/>
          </a:bodyPr>
          <a:lstStyle/>
          <a:p>
            <a:pPr algn="ctr">
              <a:lnSpc>
                <a:spcPts val="3499"/>
              </a:lnSpc>
            </a:pPr>
            <a:r>
              <a:rPr lang="en-US" sz="2499">
                <a:solidFill>
                  <a:srgbClr val="FFFFFF"/>
                </a:solidFill>
                <a:latin typeface="Tomorrow"/>
                <a:ea typeface="Tomorrow"/>
                <a:cs typeface="Tomorrow"/>
                <a:sym typeface="Tomorrow"/>
              </a:rPr>
              <a:t>Dosen Pengampu Mata Kuliah :</a:t>
            </a:r>
          </a:p>
          <a:p>
            <a:pPr algn="ctr">
              <a:lnSpc>
                <a:spcPts val="3499"/>
              </a:lnSpc>
            </a:pPr>
            <a:r>
              <a:rPr lang="en-US" sz="2499">
                <a:solidFill>
                  <a:srgbClr val="FFFFFF"/>
                </a:solidFill>
                <a:latin typeface="Tomorrow"/>
                <a:ea typeface="Tomorrow"/>
                <a:cs typeface="Tomorrow"/>
                <a:sym typeface="Tomorrow"/>
              </a:rPr>
              <a:t>Gus Nanang Syaefuddin S. Kom, M. Kom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824528" y="2654593"/>
            <a:ext cx="7419834" cy="5954269"/>
            <a:chOff x="0" y="0"/>
            <a:chExt cx="1954195" cy="1568203"/>
          </a:xfrm>
        </p:grpSpPr>
        <p:sp>
          <p:nvSpPr>
            <p:cNvPr name="Freeform 4" id="4"/>
            <p:cNvSpPr/>
            <p:nvPr/>
          </p:nvSpPr>
          <p:spPr>
            <a:xfrm flipH="false" flipV="false" rot="0">
              <a:off x="0" y="0"/>
              <a:ext cx="1954195" cy="1568203"/>
            </a:xfrm>
            <a:custGeom>
              <a:avLst/>
              <a:gdLst/>
              <a:ahLst/>
              <a:cxnLst/>
              <a:rect r="r" b="b" t="t" l="l"/>
              <a:pathLst>
                <a:path h="1568203" w="1954195">
                  <a:moveTo>
                    <a:pt x="0" y="0"/>
                  </a:moveTo>
                  <a:lnTo>
                    <a:pt x="1954195" y="0"/>
                  </a:lnTo>
                  <a:lnTo>
                    <a:pt x="1954195" y="1568203"/>
                  </a:lnTo>
                  <a:lnTo>
                    <a:pt x="0" y="1568203"/>
                  </a:lnTo>
                  <a:close/>
                </a:path>
              </a:pathLst>
            </a:custGeom>
            <a:solidFill>
              <a:srgbClr val="FFFFFF">
                <a:alpha val="10980"/>
              </a:srgbClr>
            </a:solidFill>
          </p:spPr>
        </p:sp>
        <p:sp>
          <p:nvSpPr>
            <p:cNvPr name="TextBox 5" id="5"/>
            <p:cNvSpPr txBox="true"/>
            <p:nvPr/>
          </p:nvSpPr>
          <p:spPr>
            <a:xfrm>
              <a:off x="0" y="-47625"/>
              <a:ext cx="1954195" cy="161582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174072" y="3989915"/>
            <a:ext cx="6720746" cy="880127"/>
          </a:xfrm>
          <a:prstGeom prst="rect">
            <a:avLst/>
          </a:prstGeom>
        </p:spPr>
        <p:txBody>
          <a:bodyPr anchor="t" rtlCol="false" tIns="0" lIns="0" bIns="0" rIns="0">
            <a:spAutoFit/>
          </a:bodyPr>
          <a:lstStyle/>
          <a:p>
            <a:pPr algn="l" marL="0" indent="0" lvl="0">
              <a:lnSpc>
                <a:spcPts val="7139"/>
              </a:lnSpc>
              <a:spcBef>
                <a:spcPct val="0"/>
              </a:spcBef>
            </a:pPr>
            <a:r>
              <a:rPr lang="en-US" b="true" sz="5099">
                <a:solidFill>
                  <a:srgbClr val="FFFFFF"/>
                </a:solidFill>
                <a:latin typeface="Tomorrow Bold"/>
                <a:ea typeface="Tomorrow Bold"/>
                <a:cs typeface="Tomorrow Bold"/>
                <a:sym typeface="Tomorrow Bold"/>
              </a:rPr>
              <a:t>Anggota Kelompok:</a:t>
            </a:r>
          </a:p>
        </p:txBody>
      </p:sp>
      <p:sp>
        <p:nvSpPr>
          <p:cNvPr name="Freeform 7" id="7"/>
          <p:cNvSpPr/>
          <p:nvPr/>
        </p:nvSpPr>
        <p:spPr>
          <a:xfrm flipH="false" flipV="false" rot="0">
            <a:off x="10314226" y="3176179"/>
            <a:ext cx="5973130" cy="4911097"/>
          </a:xfrm>
          <a:custGeom>
            <a:avLst/>
            <a:gdLst/>
            <a:ahLst/>
            <a:cxnLst/>
            <a:rect r="r" b="b" t="t" l="l"/>
            <a:pathLst>
              <a:path h="4911097" w="5973130">
                <a:moveTo>
                  <a:pt x="0" y="0"/>
                </a:moveTo>
                <a:lnTo>
                  <a:pt x="5973130" y="0"/>
                </a:lnTo>
                <a:lnTo>
                  <a:pt x="5973130" y="4911097"/>
                </a:lnTo>
                <a:lnTo>
                  <a:pt x="0" y="49110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10800000">
            <a:off x="11983496" y="-868048"/>
            <a:ext cx="6304504" cy="3522642"/>
          </a:xfrm>
          <a:custGeom>
            <a:avLst/>
            <a:gdLst/>
            <a:ahLst/>
            <a:cxnLst/>
            <a:rect r="r" b="b" t="t" l="l"/>
            <a:pathLst>
              <a:path h="3522642" w="6304504">
                <a:moveTo>
                  <a:pt x="0" y="0"/>
                </a:moveTo>
                <a:lnTo>
                  <a:pt x="6304504" y="0"/>
                </a:lnTo>
                <a:lnTo>
                  <a:pt x="6304504" y="3522641"/>
                </a:lnTo>
                <a:lnTo>
                  <a:pt x="0" y="3522641"/>
                </a:lnTo>
                <a:lnTo>
                  <a:pt x="0" y="0"/>
                </a:lnTo>
                <a:close/>
              </a:path>
            </a:pathLst>
          </a:custGeom>
          <a:blipFill>
            <a:blip r:embed="rId5"/>
            <a:stretch>
              <a:fillRect l="0" t="0" r="0" b="0"/>
            </a:stretch>
          </a:blipFill>
        </p:spPr>
      </p:sp>
      <p:grpSp>
        <p:nvGrpSpPr>
          <p:cNvPr name="Group 9" id="9"/>
          <p:cNvGrpSpPr/>
          <p:nvPr/>
        </p:nvGrpSpPr>
        <p:grpSpPr>
          <a:xfrm rot="0">
            <a:off x="9052685" y="7188490"/>
            <a:ext cx="310192" cy="299142"/>
            <a:chOff x="0" y="0"/>
            <a:chExt cx="81697" cy="78786"/>
          </a:xfrm>
        </p:grpSpPr>
        <p:sp>
          <p:nvSpPr>
            <p:cNvPr name="Freeform 10" id="10"/>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1" id="11"/>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9817027" y="7851090"/>
            <a:ext cx="310192" cy="299142"/>
            <a:chOff x="0" y="0"/>
            <a:chExt cx="81697" cy="78786"/>
          </a:xfrm>
        </p:grpSpPr>
        <p:sp>
          <p:nvSpPr>
            <p:cNvPr name="Freeform 13" id="13"/>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4" id="14"/>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50506" y="2256306"/>
            <a:ext cx="747321" cy="768415"/>
            <a:chOff x="0" y="0"/>
            <a:chExt cx="196825" cy="202381"/>
          </a:xfrm>
        </p:grpSpPr>
        <p:sp>
          <p:nvSpPr>
            <p:cNvPr name="Freeform 16" id="16"/>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17" id="17"/>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715608" y="3528171"/>
            <a:ext cx="626183" cy="566519"/>
            <a:chOff x="0" y="0"/>
            <a:chExt cx="164921" cy="149207"/>
          </a:xfrm>
        </p:grpSpPr>
        <p:sp>
          <p:nvSpPr>
            <p:cNvPr name="Freeform 19" id="19"/>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20" id="20"/>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369038" y="1916294"/>
            <a:ext cx="310192" cy="299142"/>
            <a:chOff x="0" y="0"/>
            <a:chExt cx="81697" cy="78786"/>
          </a:xfrm>
        </p:grpSpPr>
        <p:sp>
          <p:nvSpPr>
            <p:cNvPr name="Freeform 22" id="22"/>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3" id="23"/>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2572375" y="5005219"/>
            <a:ext cx="5924139" cy="2091689"/>
          </a:xfrm>
          <a:prstGeom prst="rect">
            <a:avLst/>
          </a:prstGeom>
        </p:spPr>
        <p:txBody>
          <a:bodyPr anchor="t" rtlCol="false" tIns="0" lIns="0" bIns="0" rIns="0">
            <a:spAutoFit/>
          </a:bodyPr>
          <a:lstStyle/>
          <a:p>
            <a:pPr algn="l">
              <a:lnSpc>
                <a:spcPts val="4200"/>
              </a:lnSpc>
            </a:pPr>
            <a:r>
              <a:rPr lang="en-US" sz="2100">
                <a:solidFill>
                  <a:srgbClr val="FFFFFF"/>
                </a:solidFill>
                <a:latin typeface="Tomorrow"/>
                <a:ea typeface="Tomorrow"/>
                <a:cs typeface="Tomorrow"/>
                <a:sym typeface="Tomorrow"/>
              </a:rPr>
              <a:t>Azzahra Wahyu Olivia                    (233307006)</a:t>
            </a:r>
          </a:p>
          <a:p>
            <a:pPr algn="l">
              <a:lnSpc>
                <a:spcPts val="4200"/>
              </a:lnSpc>
            </a:pPr>
            <a:r>
              <a:rPr lang="en-US" sz="2100">
                <a:solidFill>
                  <a:srgbClr val="FFFFFF"/>
                </a:solidFill>
                <a:latin typeface="Tomorrow"/>
                <a:ea typeface="Tomorrow"/>
                <a:cs typeface="Tomorrow"/>
                <a:sym typeface="Tomorrow"/>
              </a:rPr>
              <a:t>Elin Akma Pratama                         (233307009)</a:t>
            </a:r>
          </a:p>
          <a:p>
            <a:pPr algn="l">
              <a:lnSpc>
                <a:spcPts val="4200"/>
              </a:lnSpc>
            </a:pPr>
            <a:r>
              <a:rPr lang="en-US" sz="2100">
                <a:solidFill>
                  <a:srgbClr val="FFFFFF"/>
                </a:solidFill>
                <a:latin typeface="Tomorrow"/>
                <a:ea typeface="Tomorrow"/>
                <a:cs typeface="Tomorrow"/>
                <a:sym typeface="Tomorrow"/>
              </a:rPr>
              <a:t>Ergi Zenila Marta Sasmige          (233307010)</a:t>
            </a:r>
          </a:p>
          <a:p>
            <a:pPr algn="l">
              <a:lnSpc>
                <a:spcPts val="4200"/>
              </a:lnSpc>
            </a:pPr>
            <a:r>
              <a:rPr lang="en-US" sz="2100">
                <a:solidFill>
                  <a:srgbClr val="FFFFFF"/>
                </a:solidFill>
                <a:latin typeface="Tomorrow"/>
                <a:ea typeface="Tomorrow"/>
                <a:cs typeface="Tomorrow"/>
                <a:sym typeface="Tomorrow"/>
              </a:rPr>
              <a:t>Tria Wilujeng Rahayu Br S           (233307028)</a:t>
            </a:r>
          </a:p>
        </p:txBody>
      </p:sp>
    </p:spTree>
  </p:cSld>
  <p:clrMapOvr>
    <a:masterClrMapping/>
  </p:clrMapOvr>
  <p:transition spd="slow">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294347" y="2728546"/>
            <a:ext cx="13699307" cy="5991307"/>
            <a:chOff x="0" y="0"/>
            <a:chExt cx="3608048" cy="1577957"/>
          </a:xfrm>
        </p:grpSpPr>
        <p:sp>
          <p:nvSpPr>
            <p:cNvPr name="Freeform 4" id="4"/>
            <p:cNvSpPr/>
            <p:nvPr/>
          </p:nvSpPr>
          <p:spPr>
            <a:xfrm flipH="false" flipV="false" rot="0">
              <a:off x="0" y="0"/>
              <a:ext cx="3608048" cy="1577957"/>
            </a:xfrm>
            <a:custGeom>
              <a:avLst/>
              <a:gdLst/>
              <a:ahLst/>
              <a:cxnLst/>
              <a:rect r="r" b="b" t="t" l="l"/>
              <a:pathLst>
                <a:path h="1577957" w="3608048">
                  <a:moveTo>
                    <a:pt x="0" y="0"/>
                  </a:moveTo>
                  <a:lnTo>
                    <a:pt x="3608048" y="0"/>
                  </a:lnTo>
                  <a:lnTo>
                    <a:pt x="3608048" y="1577957"/>
                  </a:lnTo>
                  <a:lnTo>
                    <a:pt x="0" y="1577957"/>
                  </a:lnTo>
                  <a:close/>
                </a:path>
              </a:pathLst>
            </a:custGeom>
            <a:solidFill>
              <a:srgbClr val="FFFFFF">
                <a:alpha val="10980"/>
              </a:srgbClr>
            </a:solidFill>
          </p:spPr>
        </p:sp>
        <p:sp>
          <p:nvSpPr>
            <p:cNvPr name="TextBox 5" id="5"/>
            <p:cNvSpPr txBox="true"/>
            <p:nvPr/>
          </p:nvSpPr>
          <p:spPr>
            <a:xfrm>
              <a:off x="0" y="-47625"/>
              <a:ext cx="3608048" cy="1625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43205" y="5143500"/>
            <a:ext cx="3313774" cy="3701917"/>
          </a:xfrm>
          <a:custGeom>
            <a:avLst/>
            <a:gdLst/>
            <a:ahLst/>
            <a:cxnLst/>
            <a:rect r="r" b="b" t="t" l="l"/>
            <a:pathLst>
              <a:path h="3701917" w="3313774">
                <a:moveTo>
                  <a:pt x="0" y="0"/>
                </a:moveTo>
                <a:lnTo>
                  <a:pt x="3313774" y="0"/>
                </a:lnTo>
                <a:lnTo>
                  <a:pt x="3313774" y="3701917"/>
                </a:lnTo>
                <a:lnTo>
                  <a:pt x="0" y="37019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4296979" y="1324544"/>
            <a:ext cx="9694043" cy="880127"/>
          </a:xfrm>
          <a:prstGeom prst="rect">
            <a:avLst/>
          </a:prstGeom>
        </p:spPr>
        <p:txBody>
          <a:bodyPr anchor="t" rtlCol="false" tIns="0" lIns="0" bIns="0" rIns="0">
            <a:spAutoFit/>
          </a:bodyPr>
          <a:lstStyle/>
          <a:p>
            <a:pPr algn="ctr" marL="0" indent="0" lvl="0">
              <a:lnSpc>
                <a:spcPts val="7139"/>
              </a:lnSpc>
              <a:spcBef>
                <a:spcPct val="0"/>
              </a:spcBef>
            </a:pPr>
            <a:r>
              <a:rPr lang="en-US" b="true" sz="5099">
                <a:solidFill>
                  <a:srgbClr val="FFFFFF"/>
                </a:solidFill>
                <a:latin typeface="Tomorrow Bold"/>
                <a:ea typeface="Tomorrow Bold"/>
                <a:cs typeface="Tomorrow Bold"/>
                <a:sym typeface="Tomorrow Bold"/>
              </a:rPr>
              <a:t>Pengertian</a:t>
            </a:r>
          </a:p>
        </p:txBody>
      </p:sp>
      <p:sp>
        <p:nvSpPr>
          <p:cNvPr name="TextBox 8" id="8"/>
          <p:cNvSpPr txBox="true"/>
          <p:nvPr/>
        </p:nvSpPr>
        <p:spPr>
          <a:xfrm rot="0">
            <a:off x="3285606" y="3494828"/>
            <a:ext cx="11716788" cy="2184400"/>
          </a:xfrm>
          <a:prstGeom prst="rect">
            <a:avLst/>
          </a:prstGeom>
        </p:spPr>
        <p:txBody>
          <a:bodyPr anchor="t" rtlCol="false" tIns="0" lIns="0" bIns="0" rIns="0">
            <a:spAutoFit/>
          </a:bodyPr>
          <a:lstStyle/>
          <a:p>
            <a:pPr algn="just">
              <a:lnSpc>
                <a:spcPts val="3499"/>
              </a:lnSpc>
            </a:pPr>
            <a:r>
              <a:rPr lang="en-US" sz="2499">
                <a:solidFill>
                  <a:srgbClr val="FFFFFF"/>
                </a:solidFill>
                <a:latin typeface="Tomorrow"/>
                <a:ea typeface="Tomorrow"/>
                <a:cs typeface="Tomorrow"/>
                <a:sym typeface="Tomorrow"/>
              </a:rPr>
              <a:t>Logistic regression adalah metode analisis statistik yang digunakan untuk memprediksi hasil biner, seperti “ya atau tidak”, dengan memanfaatkan pola dari data historis. Model ini bekerja dengan menganalisis hubungan antara satu atau lebih variabel independen terhadap variabel dependen yang bersifat kategoris (biasanya 0 atau 1).</a:t>
            </a:r>
          </a:p>
        </p:txBody>
      </p:sp>
      <p:grpSp>
        <p:nvGrpSpPr>
          <p:cNvPr name="Group 9" id="9"/>
          <p:cNvGrpSpPr/>
          <p:nvPr/>
        </p:nvGrpSpPr>
        <p:grpSpPr>
          <a:xfrm rot="0">
            <a:off x="15619993" y="2805531"/>
            <a:ext cx="747321" cy="768415"/>
            <a:chOff x="0" y="0"/>
            <a:chExt cx="196825" cy="202381"/>
          </a:xfrm>
        </p:grpSpPr>
        <p:sp>
          <p:nvSpPr>
            <p:cNvPr name="Freeform 10" id="10"/>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11" id="11"/>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6633117" y="3873847"/>
            <a:ext cx="626183" cy="566519"/>
            <a:chOff x="0" y="0"/>
            <a:chExt cx="164921" cy="149207"/>
          </a:xfrm>
        </p:grpSpPr>
        <p:sp>
          <p:nvSpPr>
            <p:cNvPr name="Freeform 13" id="13"/>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4" id="14"/>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5386233" y="4128597"/>
            <a:ext cx="310192" cy="299142"/>
            <a:chOff x="0" y="0"/>
            <a:chExt cx="81697" cy="78786"/>
          </a:xfrm>
        </p:grpSpPr>
        <p:sp>
          <p:nvSpPr>
            <p:cNvPr name="Freeform 16" id="16"/>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7" id="17"/>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689900" y="2264816"/>
            <a:ext cx="310192" cy="299142"/>
            <a:chOff x="0" y="0"/>
            <a:chExt cx="81697" cy="78786"/>
          </a:xfrm>
        </p:grpSpPr>
        <p:sp>
          <p:nvSpPr>
            <p:cNvPr name="Freeform 19" id="19"/>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0" id="20"/>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2139251" y="3040167"/>
            <a:ext cx="310192" cy="299142"/>
            <a:chOff x="0" y="0"/>
            <a:chExt cx="81697" cy="78786"/>
          </a:xfrm>
        </p:grpSpPr>
        <p:sp>
          <p:nvSpPr>
            <p:cNvPr name="Freeform 22" id="22"/>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3" id="23"/>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183796" y="2890596"/>
            <a:ext cx="310192" cy="299142"/>
            <a:chOff x="0" y="0"/>
            <a:chExt cx="81697" cy="78786"/>
          </a:xfrm>
        </p:grpSpPr>
        <p:sp>
          <p:nvSpPr>
            <p:cNvPr name="Freeform 25" id="25"/>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6" id="26"/>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true" flipV="false" rot="0">
            <a:off x="12233981" y="7084097"/>
            <a:ext cx="6304504" cy="3522642"/>
          </a:xfrm>
          <a:custGeom>
            <a:avLst/>
            <a:gdLst/>
            <a:ahLst/>
            <a:cxnLst/>
            <a:rect r="r" b="b" t="t" l="l"/>
            <a:pathLst>
              <a:path h="3522642" w="6304504">
                <a:moveTo>
                  <a:pt x="6304504" y="0"/>
                </a:moveTo>
                <a:lnTo>
                  <a:pt x="0" y="0"/>
                </a:lnTo>
                <a:lnTo>
                  <a:pt x="0" y="3522641"/>
                </a:lnTo>
                <a:lnTo>
                  <a:pt x="6304504" y="3522641"/>
                </a:lnTo>
                <a:lnTo>
                  <a:pt x="6304504" y="0"/>
                </a:lnTo>
                <a:close/>
              </a:path>
            </a:pathLst>
          </a:custGeom>
          <a:blipFill>
            <a:blip r:embed="rId5"/>
            <a:stretch>
              <a:fillRect l="0" t="0" r="0" b="0"/>
            </a:stretch>
          </a:blipFill>
        </p:spPr>
      </p:sp>
      <p:sp>
        <p:nvSpPr>
          <p:cNvPr name="TextBox 28" id="28"/>
          <p:cNvSpPr txBox="true"/>
          <p:nvPr/>
        </p:nvSpPr>
        <p:spPr>
          <a:xfrm rot="0">
            <a:off x="3285606" y="6145953"/>
            <a:ext cx="11716788" cy="1746250"/>
          </a:xfrm>
          <a:prstGeom prst="rect">
            <a:avLst/>
          </a:prstGeom>
        </p:spPr>
        <p:txBody>
          <a:bodyPr anchor="t" rtlCol="false" tIns="0" lIns="0" bIns="0" rIns="0">
            <a:spAutoFit/>
          </a:bodyPr>
          <a:lstStyle/>
          <a:p>
            <a:pPr algn="just" marL="539749" indent="-269875" lvl="1">
              <a:lnSpc>
                <a:spcPts val="3499"/>
              </a:lnSpc>
              <a:buFont typeface="Arial"/>
              <a:buChar char="•"/>
            </a:pPr>
            <a:r>
              <a:rPr lang="en-US" sz="2499">
                <a:solidFill>
                  <a:srgbClr val="FFFFFF"/>
                </a:solidFill>
                <a:latin typeface="Tomorrow"/>
                <a:ea typeface="Tomorrow"/>
                <a:cs typeface="Tomorrow"/>
                <a:sym typeface="Tomorrow"/>
              </a:rPr>
              <a:t>Dalam machine learning, algoritme ini digunakan untuk mengklasifikasikan data baru berdasarkan pola yang telah dipelajari. </a:t>
            </a:r>
          </a:p>
          <a:p>
            <a:pPr algn="just" marL="539749" indent="-269875" lvl="1">
              <a:lnSpc>
                <a:spcPts val="3499"/>
              </a:lnSpc>
              <a:buFont typeface="Arial"/>
              <a:buChar char="•"/>
            </a:pPr>
            <a:r>
              <a:rPr lang="en-US" sz="2499">
                <a:solidFill>
                  <a:srgbClr val="FFFFFF"/>
                </a:solidFill>
                <a:latin typeface="Tomorrow"/>
                <a:ea typeface="Tomorrow"/>
                <a:cs typeface="Tomorrow"/>
                <a:sym typeface="Tomorrow"/>
              </a:rPr>
              <a:t>Saat ada data tambahan relevan masuk, algoritme menjadi lebih baik dalam memprediksi klasifikasi dalam kumpulan data</a:t>
            </a:r>
          </a:p>
        </p:txBody>
      </p:sp>
    </p:spTree>
  </p:cSld>
  <p:clrMapOvr>
    <a:masterClrMapping/>
  </p:clrMapOvr>
  <p:transition spd="slow">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6350153" y="515302"/>
            <a:ext cx="11024624" cy="9468103"/>
            <a:chOff x="0" y="0"/>
            <a:chExt cx="2903605" cy="2493657"/>
          </a:xfrm>
        </p:grpSpPr>
        <p:sp>
          <p:nvSpPr>
            <p:cNvPr name="Freeform 4" id="4"/>
            <p:cNvSpPr/>
            <p:nvPr/>
          </p:nvSpPr>
          <p:spPr>
            <a:xfrm flipH="false" flipV="false" rot="0">
              <a:off x="0" y="0"/>
              <a:ext cx="2903605" cy="2493657"/>
            </a:xfrm>
            <a:custGeom>
              <a:avLst/>
              <a:gdLst/>
              <a:ahLst/>
              <a:cxnLst/>
              <a:rect r="r" b="b" t="t" l="l"/>
              <a:pathLst>
                <a:path h="2493657" w="2903605">
                  <a:moveTo>
                    <a:pt x="0" y="0"/>
                  </a:moveTo>
                  <a:lnTo>
                    <a:pt x="2903605" y="0"/>
                  </a:lnTo>
                  <a:lnTo>
                    <a:pt x="2903605" y="2493657"/>
                  </a:lnTo>
                  <a:lnTo>
                    <a:pt x="0" y="2493657"/>
                  </a:lnTo>
                  <a:close/>
                </a:path>
              </a:pathLst>
            </a:custGeom>
            <a:solidFill>
              <a:srgbClr val="FFFFFF">
                <a:alpha val="10980"/>
              </a:srgbClr>
            </a:solidFill>
          </p:spPr>
        </p:sp>
        <p:sp>
          <p:nvSpPr>
            <p:cNvPr name="TextBox 5" id="5"/>
            <p:cNvSpPr txBox="true"/>
            <p:nvPr/>
          </p:nvSpPr>
          <p:spPr>
            <a:xfrm>
              <a:off x="0" y="-47625"/>
              <a:ext cx="2903605" cy="254128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5619993" y="2805531"/>
            <a:ext cx="747321" cy="768415"/>
            <a:chOff x="0" y="0"/>
            <a:chExt cx="196825" cy="202381"/>
          </a:xfrm>
        </p:grpSpPr>
        <p:sp>
          <p:nvSpPr>
            <p:cNvPr name="Freeform 7" id="7"/>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8" id="8"/>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633117" y="3873847"/>
            <a:ext cx="626183" cy="566519"/>
            <a:chOff x="0" y="0"/>
            <a:chExt cx="164921" cy="149207"/>
          </a:xfrm>
        </p:grpSpPr>
        <p:sp>
          <p:nvSpPr>
            <p:cNvPr name="Freeform 10" id="10"/>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1" id="11"/>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5386233" y="4128597"/>
            <a:ext cx="310192" cy="299142"/>
            <a:chOff x="0" y="0"/>
            <a:chExt cx="81697" cy="78786"/>
          </a:xfrm>
        </p:grpSpPr>
        <p:sp>
          <p:nvSpPr>
            <p:cNvPr name="Freeform 13" id="13"/>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4" id="14"/>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689900" y="2264816"/>
            <a:ext cx="310192" cy="299142"/>
            <a:chOff x="0" y="0"/>
            <a:chExt cx="81697" cy="78786"/>
          </a:xfrm>
        </p:grpSpPr>
        <p:sp>
          <p:nvSpPr>
            <p:cNvPr name="Freeform 16" id="16"/>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7" id="17"/>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2139251" y="3040167"/>
            <a:ext cx="310192" cy="299142"/>
            <a:chOff x="0" y="0"/>
            <a:chExt cx="81697" cy="78786"/>
          </a:xfrm>
        </p:grpSpPr>
        <p:sp>
          <p:nvSpPr>
            <p:cNvPr name="Freeform 19" id="19"/>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0" id="20"/>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183796" y="2890596"/>
            <a:ext cx="310192" cy="299142"/>
            <a:chOff x="0" y="0"/>
            <a:chExt cx="81697" cy="78786"/>
          </a:xfrm>
        </p:grpSpPr>
        <p:sp>
          <p:nvSpPr>
            <p:cNvPr name="Freeform 22" id="22"/>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3" id="23"/>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true" flipV="false" rot="0">
            <a:off x="12233981" y="7084097"/>
            <a:ext cx="6304504" cy="3522642"/>
          </a:xfrm>
          <a:custGeom>
            <a:avLst/>
            <a:gdLst/>
            <a:ahLst/>
            <a:cxnLst/>
            <a:rect r="r" b="b" t="t" l="l"/>
            <a:pathLst>
              <a:path h="3522642" w="6304504">
                <a:moveTo>
                  <a:pt x="6304504" y="0"/>
                </a:moveTo>
                <a:lnTo>
                  <a:pt x="0" y="0"/>
                </a:lnTo>
                <a:lnTo>
                  <a:pt x="0" y="3522641"/>
                </a:lnTo>
                <a:lnTo>
                  <a:pt x="6304504" y="3522641"/>
                </a:lnTo>
                <a:lnTo>
                  <a:pt x="6304504" y="0"/>
                </a:lnTo>
                <a:close/>
              </a:path>
            </a:pathLst>
          </a:custGeom>
          <a:blipFill>
            <a:blip r:embed="rId3"/>
            <a:stretch>
              <a:fillRect l="0" t="0" r="0" b="0"/>
            </a:stretch>
          </a:blipFill>
        </p:spPr>
      </p:sp>
      <p:sp>
        <p:nvSpPr>
          <p:cNvPr name="Freeform 25" id="25"/>
          <p:cNvSpPr/>
          <p:nvPr/>
        </p:nvSpPr>
        <p:spPr>
          <a:xfrm flipH="false" flipV="false" rot="0">
            <a:off x="343205" y="5143500"/>
            <a:ext cx="3313774" cy="3701917"/>
          </a:xfrm>
          <a:custGeom>
            <a:avLst/>
            <a:gdLst/>
            <a:ahLst/>
            <a:cxnLst/>
            <a:rect r="r" b="b" t="t" l="l"/>
            <a:pathLst>
              <a:path h="3701917" w="3313774">
                <a:moveTo>
                  <a:pt x="0" y="0"/>
                </a:moveTo>
                <a:lnTo>
                  <a:pt x="3313774" y="0"/>
                </a:lnTo>
                <a:lnTo>
                  <a:pt x="3313774" y="3701917"/>
                </a:lnTo>
                <a:lnTo>
                  <a:pt x="0" y="37019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6" id="26"/>
          <p:cNvSpPr txBox="true"/>
          <p:nvPr/>
        </p:nvSpPr>
        <p:spPr>
          <a:xfrm rot="0">
            <a:off x="403371" y="3296516"/>
            <a:ext cx="6522293" cy="1785002"/>
          </a:xfrm>
          <a:prstGeom prst="rect">
            <a:avLst/>
          </a:prstGeom>
        </p:spPr>
        <p:txBody>
          <a:bodyPr anchor="t" rtlCol="false" tIns="0" lIns="0" bIns="0" rIns="0">
            <a:spAutoFit/>
          </a:bodyPr>
          <a:lstStyle/>
          <a:p>
            <a:pPr algn="ctr" marL="0" indent="0" lvl="0">
              <a:lnSpc>
                <a:spcPts val="7139"/>
              </a:lnSpc>
              <a:spcBef>
                <a:spcPct val="0"/>
              </a:spcBef>
            </a:pPr>
            <a:r>
              <a:rPr lang="en-US" b="true" sz="5099">
                <a:solidFill>
                  <a:srgbClr val="FFFFFF"/>
                </a:solidFill>
                <a:latin typeface="Tomorrow Bold"/>
                <a:ea typeface="Tomorrow Bold"/>
                <a:cs typeface="Tomorrow Bold"/>
                <a:sym typeface="Tomorrow Bold"/>
              </a:rPr>
              <a:t>Jenis Logistic Regression </a:t>
            </a:r>
          </a:p>
        </p:txBody>
      </p:sp>
      <p:sp>
        <p:nvSpPr>
          <p:cNvPr name="TextBox 27" id="27"/>
          <p:cNvSpPr txBox="true"/>
          <p:nvPr/>
        </p:nvSpPr>
        <p:spPr>
          <a:xfrm rot="0">
            <a:off x="6658682" y="1357796"/>
            <a:ext cx="10403003" cy="4813300"/>
          </a:xfrm>
          <a:prstGeom prst="rect">
            <a:avLst/>
          </a:prstGeom>
        </p:spPr>
        <p:txBody>
          <a:bodyPr anchor="t" rtlCol="false" tIns="0" lIns="0" bIns="0" rIns="0">
            <a:spAutoFit/>
          </a:bodyPr>
          <a:lstStyle/>
          <a:p>
            <a:pPr algn="just">
              <a:lnSpc>
                <a:spcPts val="3499"/>
              </a:lnSpc>
            </a:pPr>
            <a:r>
              <a:rPr lang="en-US" sz="2499">
                <a:solidFill>
                  <a:srgbClr val="FFFFFF"/>
                </a:solidFill>
                <a:latin typeface="Tomorrow"/>
                <a:ea typeface="Tomorrow"/>
                <a:cs typeface="Tomorrow"/>
                <a:sym typeface="Tomorrow"/>
              </a:rPr>
              <a:t>Dalam pendekatan ini, variabel dependen bersifat dikotomis, yaitu hanya memiliki dua kemungkinan hasil (0/1, ya/tidak, spam/bukan spam). </a:t>
            </a:r>
          </a:p>
          <a:p>
            <a:pPr algn="just">
              <a:lnSpc>
                <a:spcPts val="3499"/>
              </a:lnSpc>
            </a:pPr>
          </a:p>
          <a:p>
            <a:pPr algn="just">
              <a:lnSpc>
                <a:spcPts val="3499"/>
              </a:lnSpc>
            </a:pPr>
            <a:r>
              <a:rPr lang="en-US" sz="2499">
                <a:solidFill>
                  <a:srgbClr val="FFFFFF"/>
                </a:solidFill>
                <a:latin typeface="Tomorrow"/>
                <a:ea typeface="Tomorrow"/>
                <a:cs typeface="Tomorrow"/>
                <a:sym typeface="Tomorrow"/>
              </a:rPr>
              <a:t>Tujuan mo</a:t>
            </a:r>
            <a:r>
              <a:rPr lang="en-US" sz="2499">
                <a:solidFill>
                  <a:srgbClr val="FFFFFF"/>
                </a:solidFill>
                <a:latin typeface="Tomorrow"/>
                <a:ea typeface="Tomorrow"/>
                <a:cs typeface="Tomorrow"/>
                <a:sym typeface="Tomorrow"/>
              </a:rPr>
              <a:t>del ini adalah menghitung probabilitas terjadinya suatu peristiwa berdasarkan satu atau lebih variabel input.</a:t>
            </a:r>
          </a:p>
          <a:p>
            <a:pPr algn="just">
              <a:lnSpc>
                <a:spcPts val="3499"/>
              </a:lnSpc>
            </a:pPr>
          </a:p>
          <a:p>
            <a:pPr algn="just">
              <a:lnSpc>
                <a:spcPts val="3499"/>
              </a:lnSpc>
            </a:pPr>
            <a:r>
              <a:rPr lang="en-US" sz="2499">
                <a:solidFill>
                  <a:srgbClr val="FFFFFF"/>
                </a:solidFill>
                <a:latin typeface="Tomorrow"/>
                <a:ea typeface="Tomorrow"/>
                <a:cs typeface="Tomorrow"/>
                <a:sym typeface="Tomorrow"/>
              </a:rPr>
              <a:t>Nilai prediksi selalu berada antara 0 dan 1, sehingga dapat ditafsirkan sebagai tingkat keyakinan model terhadap kelas positif. Untuk mengubah kombinasi linier fitur menjadi probabilitas, model menggunakan fungsi Sigmoid (Logistic Function) dengan rumus:</a:t>
            </a:r>
          </a:p>
        </p:txBody>
      </p:sp>
      <p:sp>
        <p:nvSpPr>
          <p:cNvPr name="Freeform 28" id="28"/>
          <p:cNvSpPr/>
          <p:nvPr/>
        </p:nvSpPr>
        <p:spPr>
          <a:xfrm flipH="false" flipV="false" rot="0">
            <a:off x="10415590" y="6594892"/>
            <a:ext cx="2889187" cy="978410"/>
          </a:xfrm>
          <a:custGeom>
            <a:avLst/>
            <a:gdLst/>
            <a:ahLst/>
            <a:cxnLst/>
            <a:rect r="r" b="b" t="t" l="l"/>
            <a:pathLst>
              <a:path h="978410" w="2889187">
                <a:moveTo>
                  <a:pt x="0" y="0"/>
                </a:moveTo>
                <a:lnTo>
                  <a:pt x="2889188" y="0"/>
                </a:lnTo>
                <a:lnTo>
                  <a:pt x="2889188" y="978410"/>
                </a:lnTo>
                <a:lnTo>
                  <a:pt x="0" y="978410"/>
                </a:lnTo>
                <a:lnTo>
                  <a:pt x="0" y="0"/>
                </a:lnTo>
                <a:close/>
              </a:path>
            </a:pathLst>
          </a:custGeom>
          <a:blipFill>
            <a:blip r:embed="rId6"/>
            <a:stretch>
              <a:fillRect l="0" t="0" r="0" b="0"/>
            </a:stretch>
          </a:blipFill>
        </p:spPr>
      </p:sp>
      <p:sp>
        <p:nvSpPr>
          <p:cNvPr name="TextBox 29" id="29"/>
          <p:cNvSpPr txBox="true"/>
          <p:nvPr/>
        </p:nvSpPr>
        <p:spPr>
          <a:xfrm rot="0">
            <a:off x="6658682" y="746604"/>
            <a:ext cx="10085441" cy="431800"/>
          </a:xfrm>
          <a:prstGeom prst="rect">
            <a:avLst/>
          </a:prstGeom>
        </p:spPr>
        <p:txBody>
          <a:bodyPr anchor="t" rtlCol="false" tIns="0" lIns="0" bIns="0" rIns="0">
            <a:spAutoFit/>
          </a:bodyPr>
          <a:lstStyle/>
          <a:p>
            <a:pPr algn="just">
              <a:lnSpc>
                <a:spcPts val="3499"/>
              </a:lnSpc>
            </a:pPr>
            <a:r>
              <a:rPr lang="en-US" sz="2499" b="true">
                <a:solidFill>
                  <a:srgbClr val="FFFFFF"/>
                </a:solidFill>
                <a:latin typeface="Tomorrow Bold"/>
                <a:ea typeface="Tomorrow Bold"/>
                <a:cs typeface="Tomorrow Bold"/>
                <a:sym typeface="Tomorrow Bold"/>
              </a:rPr>
              <a:t>1.     Binary Logistic Regression</a:t>
            </a:r>
          </a:p>
        </p:txBody>
      </p:sp>
      <p:sp>
        <p:nvSpPr>
          <p:cNvPr name="TextBox 30" id="30"/>
          <p:cNvSpPr txBox="true"/>
          <p:nvPr/>
        </p:nvSpPr>
        <p:spPr>
          <a:xfrm rot="0">
            <a:off x="6660963" y="7811427"/>
            <a:ext cx="10403003" cy="2184214"/>
          </a:xfrm>
          <a:prstGeom prst="rect">
            <a:avLst/>
          </a:prstGeom>
        </p:spPr>
        <p:txBody>
          <a:bodyPr anchor="t" rtlCol="false" tIns="0" lIns="0" bIns="0" rIns="0">
            <a:spAutoFit/>
          </a:bodyPr>
          <a:lstStyle/>
          <a:p>
            <a:pPr algn="just">
              <a:lnSpc>
                <a:spcPts val="3499"/>
              </a:lnSpc>
            </a:pPr>
            <a:r>
              <a:rPr lang="en-US" sz="2499">
                <a:solidFill>
                  <a:srgbClr val="FFFFFF"/>
                </a:solidFill>
                <a:latin typeface="Tomorrow"/>
                <a:ea typeface="Tomorrow"/>
                <a:cs typeface="Tomorrow"/>
                <a:sym typeface="Tomorrow"/>
              </a:rPr>
              <a:t>Fungsi sigmoid menghasilkan kurva berbentuk huruf S (sig</a:t>
            </a:r>
            <a:r>
              <a:rPr lang="en-US" sz="2499">
                <a:solidFill>
                  <a:srgbClr val="FFFFFF"/>
                </a:solidFill>
                <a:latin typeface="Tomorrow"/>
                <a:ea typeface="Tomorrow"/>
                <a:cs typeface="Tomorrow"/>
                <a:sym typeface="Tomorrow"/>
              </a:rPr>
              <a:t>moid curve) yang membatasi output antara 0 dan 1.</a:t>
            </a:r>
          </a:p>
          <a:p>
            <a:pPr algn="just" marL="539749" indent="-269875" lvl="1">
              <a:lnSpc>
                <a:spcPts val="3499"/>
              </a:lnSpc>
              <a:buFont typeface="Arial"/>
              <a:buChar char="•"/>
            </a:pPr>
            <a:r>
              <a:rPr lang="en-US" sz="2499">
                <a:solidFill>
                  <a:srgbClr val="FFFFFF"/>
                </a:solidFill>
                <a:latin typeface="Tomorrow"/>
                <a:ea typeface="Tomorrow"/>
                <a:cs typeface="Tomorrow"/>
                <a:sym typeface="Tomorrow"/>
              </a:rPr>
              <a:t>Jika nilai mendekati 1, maka model memprediksi kelas “positif”.</a:t>
            </a:r>
          </a:p>
          <a:p>
            <a:pPr algn="just" marL="539749" indent="-269875" lvl="1">
              <a:lnSpc>
                <a:spcPts val="3499"/>
              </a:lnSpc>
              <a:buFont typeface="Arial"/>
              <a:buChar char="•"/>
            </a:pPr>
            <a:r>
              <a:rPr lang="en-US" sz="2499">
                <a:solidFill>
                  <a:srgbClr val="FFFFFF"/>
                </a:solidFill>
                <a:latin typeface="Tomorrow"/>
                <a:ea typeface="Tomorrow"/>
                <a:cs typeface="Tomorrow"/>
                <a:sym typeface="Tomorrow"/>
              </a:rPr>
              <a:t>Jika nilai mendekati 0, maka model memprediksi kelas “negatif”.</a:t>
            </a:r>
          </a:p>
          <a:p>
            <a:pPr algn="just">
              <a:lnSpc>
                <a:spcPts val="3499"/>
              </a:lnSpc>
            </a:pPr>
          </a:p>
        </p:txBody>
      </p:sp>
    </p:spTree>
  </p:cSld>
  <p:clrMapOvr>
    <a:masterClrMapping/>
  </p:clrMapOvr>
  <p:transition spd="slow">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55735" y="521034"/>
            <a:ext cx="14353671" cy="9292608"/>
            <a:chOff x="0" y="0"/>
            <a:chExt cx="3780391" cy="2447436"/>
          </a:xfrm>
        </p:grpSpPr>
        <p:sp>
          <p:nvSpPr>
            <p:cNvPr name="Freeform 4" id="4"/>
            <p:cNvSpPr/>
            <p:nvPr/>
          </p:nvSpPr>
          <p:spPr>
            <a:xfrm flipH="false" flipV="false" rot="0">
              <a:off x="0" y="0"/>
              <a:ext cx="3780391" cy="2447436"/>
            </a:xfrm>
            <a:custGeom>
              <a:avLst/>
              <a:gdLst/>
              <a:ahLst/>
              <a:cxnLst/>
              <a:rect r="r" b="b" t="t" l="l"/>
              <a:pathLst>
                <a:path h="2447436" w="3780391">
                  <a:moveTo>
                    <a:pt x="0" y="0"/>
                  </a:moveTo>
                  <a:lnTo>
                    <a:pt x="3780391" y="0"/>
                  </a:lnTo>
                  <a:lnTo>
                    <a:pt x="3780391" y="2447436"/>
                  </a:lnTo>
                  <a:lnTo>
                    <a:pt x="0" y="2447436"/>
                  </a:lnTo>
                  <a:close/>
                </a:path>
              </a:pathLst>
            </a:custGeom>
            <a:solidFill>
              <a:srgbClr val="FFFFFF">
                <a:alpha val="10980"/>
              </a:srgbClr>
            </a:solidFill>
          </p:spPr>
        </p:sp>
        <p:sp>
          <p:nvSpPr>
            <p:cNvPr name="TextBox 5" id="5"/>
            <p:cNvSpPr txBox="true"/>
            <p:nvPr/>
          </p:nvSpPr>
          <p:spPr>
            <a:xfrm>
              <a:off x="0" y="-47625"/>
              <a:ext cx="3780391" cy="249506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4104248" y="5220840"/>
            <a:ext cx="3929234" cy="4149314"/>
          </a:xfrm>
          <a:custGeom>
            <a:avLst/>
            <a:gdLst/>
            <a:ahLst/>
            <a:cxnLst/>
            <a:rect r="r" b="b" t="t" l="l"/>
            <a:pathLst>
              <a:path h="4149314" w="3929234">
                <a:moveTo>
                  <a:pt x="0" y="0"/>
                </a:moveTo>
                <a:lnTo>
                  <a:pt x="3929234" y="0"/>
                </a:lnTo>
                <a:lnTo>
                  <a:pt x="3929234" y="4149314"/>
                </a:lnTo>
                <a:lnTo>
                  <a:pt x="0" y="41493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10800000">
            <a:off x="12233981" y="-732621"/>
            <a:ext cx="6304504" cy="3522642"/>
          </a:xfrm>
          <a:custGeom>
            <a:avLst/>
            <a:gdLst/>
            <a:ahLst/>
            <a:cxnLst/>
            <a:rect r="r" b="b" t="t" l="l"/>
            <a:pathLst>
              <a:path h="3522642" w="6304504">
                <a:moveTo>
                  <a:pt x="0" y="0"/>
                </a:moveTo>
                <a:lnTo>
                  <a:pt x="6304504" y="0"/>
                </a:lnTo>
                <a:lnTo>
                  <a:pt x="6304504" y="3522642"/>
                </a:lnTo>
                <a:lnTo>
                  <a:pt x="0" y="3522642"/>
                </a:lnTo>
                <a:lnTo>
                  <a:pt x="0" y="0"/>
                </a:lnTo>
                <a:close/>
              </a:path>
            </a:pathLst>
          </a:custGeom>
          <a:blipFill>
            <a:blip r:embed="rId5"/>
            <a:stretch>
              <a:fillRect l="0" t="0" r="0" b="0"/>
            </a:stretch>
          </a:blipFill>
        </p:spPr>
      </p:sp>
      <p:grpSp>
        <p:nvGrpSpPr>
          <p:cNvPr name="Group 8" id="8"/>
          <p:cNvGrpSpPr/>
          <p:nvPr/>
        </p:nvGrpSpPr>
        <p:grpSpPr>
          <a:xfrm rot="0">
            <a:off x="870704" y="7189743"/>
            <a:ext cx="747321" cy="768415"/>
            <a:chOff x="0" y="0"/>
            <a:chExt cx="196825" cy="202381"/>
          </a:xfrm>
        </p:grpSpPr>
        <p:sp>
          <p:nvSpPr>
            <p:cNvPr name="Freeform 9" id="9"/>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10" id="10"/>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951511" y="9386037"/>
            <a:ext cx="626183" cy="566519"/>
            <a:chOff x="0" y="0"/>
            <a:chExt cx="164921" cy="149207"/>
          </a:xfrm>
        </p:grpSpPr>
        <p:sp>
          <p:nvSpPr>
            <p:cNvPr name="Freeform 12" id="12"/>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3" id="13"/>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2270217" y="9370154"/>
            <a:ext cx="310192" cy="299142"/>
            <a:chOff x="0" y="0"/>
            <a:chExt cx="81697" cy="78786"/>
          </a:xfrm>
        </p:grpSpPr>
        <p:sp>
          <p:nvSpPr>
            <p:cNvPr name="Freeform 15" id="15"/>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6" id="16"/>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3579665" y="2006683"/>
            <a:ext cx="310192" cy="299142"/>
            <a:chOff x="0" y="0"/>
            <a:chExt cx="81697" cy="78786"/>
          </a:xfrm>
        </p:grpSpPr>
        <p:sp>
          <p:nvSpPr>
            <p:cNvPr name="Freeform 18" id="18"/>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9" id="19"/>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4344007" y="2669282"/>
            <a:ext cx="310192" cy="299142"/>
            <a:chOff x="0" y="0"/>
            <a:chExt cx="81697" cy="78786"/>
          </a:xfrm>
        </p:grpSpPr>
        <p:sp>
          <p:nvSpPr>
            <p:cNvPr name="Freeform 21" id="21"/>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2" id="22"/>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2460630" y="6491744"/>
            <a:ext cx="3225774" cy="880839"/>
          </a:xfrm>
          <a:custGeom>
            <a:avLst/>
            <a:gdLst/>
            <a:ahLst/>
            <a:cxnLst/>
            <a:rect r="r" b="b" t="t" l="l"/>
            <a:pathLst>
              <a:path h="880839" w="3225774">
                <a:moveTo>
                  <a:pt x="0" y="0"/>
                </a:moveTo>
                <a:lnTo>
                  <a:pt x="3225773" y="0"/>
                </a:lnTo>
                <a:lnTo>
                  <a:pt x="3225773" y="880838"/>
                </a:lnTo>
                <a:lnTo>
                  <a:pt x="0" y="880838"/>
                </a:lnTo>
                <a:lnTo>
                  <a:pt x="0" y="0"/>
                </a:lnTo>
                <a:close/>
              </a:path>
            </a:pathLst>
          </a:custGeom>
          <a:blipFill>
            <a:blip r:embed="rId6"/>
            <a:stretch>
              <a:fillRect l="0" t="0" r="0" b="0"/>
            </a:stretch>
          </a:blipFill>
        </p:spPr>
      </p:sp>
      <p:sp>
        <p:nvSpPr>
          <p:cNvPr name="Freeform 24" id="24"/>
          <p:cNvSpPr/>
          <p:nvPr/>
        </p:nvSpPr>
        <p:spPr>
          <a:xfrm flipH="false" flipV="false" rot="0">
            <a:off x="8809543" y="5482634"/>
            <a:ext cx="4903908" cy="710711"/>
          </a:xfrm>
          <a:custGeom>
            <a:avLst/>
            <a:gdLst/>
            <a:ahLst/>
            <a:cxnLst/>
            <a:rect r="r" b="b" t="t" l="l"/>
            <a:pathLst>
              <a:path h="710711" w="4903908">
                <a:moveTo>
                  <a:pt x="0" y="0"/>
                </a:moveTo>
                <a:lnTo>
                  <a:pt x="4903909" y="0"/>
                </a:lnTo>
                <a:lnTo>
                  <a:pt x="4903909" y="710711"/>
                </a:lnTo>
                <a:lnTo>
                  <a:pt x="0" y="710711"/>
                </a:lnTo>
                <a:lnTo>
                  <a:pt x="0" y="0"/>
                </a:lnTo>
                <a:close/>
              </a:path>
            </a:pathLst>
          </a:custGeom>
          <a:blipFill>
            <a:blip r:embed="rId7"/>
            <a:stretch>
              <a:fillRect l="0" t="0" r="0" b="0"/>
            </a:stretch>
          </a:blipFill>
        </p:spPr>
      </p:sp>
      <p:sp>
        <p:nvSpPr>
          <p:cNvPr name="TextBox 25" id="25"/>
          <p:cNvSpPr txBox="true"/>
          <p:nvPr/>
        </p:nvSpPr>
        <p:spPr>
          <a:xfrm rot="0">
            <a:off x="870704" y="724591"/>
            <a:ext cx="6405624" cy="431763"/>
          </a:xfrm>
          <a:prstGeom prst="rect">
            <a:avLst/>
          </a:prstGeom>
        </p:spPr>
        <p:txBody>
          <a:bodyPr anchor="t" rtlCol="false" tIns="0" lIns="0" bIns="0" rIns="0">
            <a:spAutoFit/>
          </a:bodyPr>
          <a:lstStyle/>
          <a:p>
            <a:pPr algn="l">
              <a:lnSpc>
                <a:spcPts val="3499"/>
              </a:lnSpc>
            </a:pPr>
            <a:r>
              <a:rPr lang="en-US" sz="2499" b="true">
                <a:solidFill>
                  <a:srgbClr val="FFFFFF"/>
                </a:solidFill>
                <a:latin typeface="Tomorrow Bold"/>
                <a:ea typeface="Tomorrow Bold"/>
                <a:cs typeface="Tomorrow Bold"/>
                <a:sym typeface="Tomorrow Bold"/>
              </a:rPr>
              <a:t>2.     Multinomial Logistic Regression</a:t>
            </a:r>
          </a:p>
        </p:txBody>
      </p:sp>
      <p:sp>
        <p:nvSpPr>
          <p:cNvPr name="TextBox 26" id="26"/>
          <p:cNvSpPr txBox="true"/>
          <p:nvPr/>
        </p:nvSpPr>
        <p:spPr>
          <a:xfrm rot="0">
            <a:off x="870704" y="1295989"/>
            <a:ext cx="6311960" cy="4813300"/>
          </a:xfrm>
          <a:prstGeom prst="rect">
            <a:avLst/>
          </a:prstGeom>
        </p:spPr>
        <p:txBody>
          <a:bodyPr anchor="t" rtlCol="false" tIns="0" lIns="0" bIns="0" rIns="0">
            <a:spAutoFit/>
          </a:bodyPr>
          <a:lstStyle/>
          <a:p>
            <a:pPr algn="just">
              <a:lnSpc>
                <a:spcPts val="3499"/>
              </a:lnSpc>
            </a:pPr>
            <a:r>
              <a:rPr lang="en-US" sz="2499">
                <a:solidFill>
                  <a:srgbClr val="FFFFFF"/>
                </a:solidFill>
                <a:latin typeface="Tomorrow"/>
                <a:ea typeface="Tomorrow"/>
                <a:cs typeface="Tomorrow"/>
                <a:sym typeface="Tomorrow"/>
              </a:rPr>
              <a:t>Regresi logistik multinomial digunakan ketika variabel dependen memiliki tiga atau lebih kategori yang tidak memiliki urutan tertentu. Model ini menghitung probabilitas untuk setiap kelas, lalu memilih kelas dengan probabilitas tertinggi sebagai prediksi.</a:t>
            </a:r>
          </a:p>
          <a:p>
            <a:pPr algn="just">
              <a:lnSpc>
                <a:spcPts val="3499"/>
              </a:lnSpc>
            </a:pPr>
            <a:r>
              <a:rPr lang="en-US" sz="2499">
                <a:solidFill>
                  <a:srgbClr val="FFFFFF"/>
                </a:solidFill>
                <a:latin typeface="Tomorrow"/>
                <a:ea typeface="Tomorrow"/>
                <a:cs typeface="Tomorrow"/>
                <a:sym typeface="Tomorrow"/>
              </a:rPr>
              <a:t>Untuk mengubah hasil kombinasi linier menjadi probabilitas tiap kelas, model menggunakan fungsi Softmax dengan rumus:</a:t>
            </a:r>
          </a:p>
        </p:txBody>
      </p:sp>
      <p:sp>
        <p:nvSpPr>
          <p:cNvPr name="TextBox 27" id="27"/>
          <p:cNvSpPr txBox="true"/>
          <p:nvPr/>
        </p:nvSpPr>
        <p:spPr>
          <a:xfrm rot="0">
            <a:off x="7941925" y="724591"/>
            <a:ext cx="5465238" cy="431763"/>
          </a:xfrm>
          <a:prstGeom prst="rect">
            <a:avLst/>
          </a:prstGeom>
        </p:spPr>
        <p:txBody>
          <a:bodyPr anchor="t" rtlCol="false" tIns="0" lIns="0" bIns="0" rIns="0">
            <a:spAutoFit/>
          </a:bodyPr>
          <a:lstStyle/>
          <a:p>
            <a:pPr algn="just">
              <a:lnSpc>
                <a:spcPts val="3499"/>
              </a:lnSpc>
            </a:pPr>
            <a:r>
              <a:rPr lang="en-US" sz="2499" b="true">
                <a:solidFill>
                  <a:srgbClr val="FFFFFF"/>
                </a:solidFill>
                <a:latin typeface="Tomorrow Bold"/>
                <a:ea typeface="Tomorrow Bold"/>
                <a:cs typeface="Tomorrow Bold"/>
                <a:sym typeface="Tomorrow Bold"/>
              </a:rPr>
              <a:t>3. Ordinal Logistic Regression</a:t>
            </a:r>
          </a:p>
        </p:txBody>
      </p:sp>
      <p:sp>
        <p:nvSpPr>
          <p:cNvPr name="TextBox 28" id="28"/>
          <p:cNvSpPr txBox="true"/>
          <p:nvPr/>
        </p:nvSpPr>
        <p:spPr>
          <a:xfrm rot="0">
            <a:off x="7941925" y="1295989"/>
            <a:ext cx="6639145" cy="3498850"/>
          </a:xfrm>
          <a:prstGeom prst="rect">
            <a:avLst/>
          </a:prstGeom>
        </p:spPr>
        <p:txBody>
          <a:bodyPr anchor="t" rtlCol="false" tIns="0" lIns="0" bIns="0" rIns="0">
            <a:spAutoFit/>
          </a:bodyPr>
          <a:lstStyle/>
          <a:p>
            <a:pPr algn="just">
              <a:lnSpc>
                <a:spcPts val="3499"/>
              </a:lnSpc>
            </a:pPr>
            <a:r>
              <a:rPr lang="en-US" sz="2499">
                <a:solidFill>
                  <a:srgbClr val="FFFFFF"/>
                </a:solidFill>
                <a:latin typeface="Tomorrow"/>
                <a:ea typeface="Tomorrow"/>
                <a:cs typeface="Tomorrow"/>
                <a:sym typeface="Tomorrow"/>
              </a:rPr>
              <a:t>Regresi logistik ordinal dipakai untuk variabel dependen berurutan (misal rendah–sedang–tinggi). Model ini memprediksi kelas sambil mempertimbangkan urutan kategori</a:t>
            </a:r>
            <a:r>
              <a:rPr lang="en-US" sz="2499">
                <a:solidFill>
                  <a:srgbClr val="FFFFFF"/>
                </a:solidFill>
                <a:latin typeface="Tomorrow"/>
                <a:ea typeface="Tomorrow"/>
                <a:cs typeface="Tomorrow"/>
                <a:sym typeface="Tomorrow"/>
              </a:rPr>
              <a:t> menggunakan Fungsi Logit Kumulatif untuk menghitung probabilitas kumulatif tiap kategori.</a:t>
            </a:r>
          </a:p>
        </p:txBody>
      </p:sp>
      <p:sp>
        <p:nvSpPr>
          <p:cNvPr name="TextBox 29" id="29"/>
          <p:cNvSpPr txBox="true"/>
          <p:nvPr/>
        </p:nvSpPr>
        <p:spPr>
          <a:xfrm rot="0">
            <a:off x="870704" y="7512199"/>
            <a:ext cx="6311960" cy="1746101"/>
          </a:xfrm>
          <a:prstGeom prst="rect">
            <a:avLst/>
          </a:prstGeom>
        </p:spPr>
        <p:txBody>
          <a:bodyPr anchor="t" rtlCol="false" tIns="0" lIns="0" bIns="0" rIns="0">
            <a:spAutoFit/>
          </a:bodyPr>
          <a:lstStyle/>
          <a:p>
            <a:pPr algn="just">
              <a:lnSpc>
                <a:spcPts val="3499"/>
              </a:lnSpc>
            </a:pPr>
            <a:r>
              <a:rPr lang="en-US" sz="2499">
                <a:solidFill>
                  <a:srgbClr val="FFFFFF"/>
                </a:solidFill>
                <a:latin typeface="Tomorrow"/>
                <a:ea typeface="Tomorrow"/>
                <a:cs typeface="Tomorrow"/>
                <a:sym typeface="Tomorrow"/>
              </a:rPr>
              <a:t>Nilai dari semua kelas akan dijumlahkan menjadi 1, sehingga dapat diinterpretasikan sebagai p</a:t>
            </a:r>
            <a:r>
              <a:rPr lang="en-US" sz="2499">
                <a:solidFill>
                  <a:srgbClr val="FFFFFF"/>
                </a:solidFill>
                <a:latin typeface="Tomorrow"/>
                <a:ea typeface="Tomorrow"/>
                <a:cs typeface="Tomorrow"/>
                <a:sym typeface="Tomorrow"/>
              </a:rPr>
              <a:t>eluang dari masing-masing kategori.</a:t>
            </a:r>
          </a:p>
        </p:txBody>
      </p:sp>
      <p:sp>
        <p:nvSpPr>
          <p:cNvPr name="TextBox 30" id="30"/>
          <p:cNvSpPr txBox="true"/>
          <p:nvPr/>
        </p:nvSpPr>
        <p:spPr>
          <a:xfrm rot="0">
            <a:off x="7941925" y="6821995"/>
            <a:ext cx="6639145" cy="2184214"/>
          </a:xfrm>
          <a:prstGeom prst="rect">
            <a:avLst/>
          </a:prstGeom>
        </p:spPr>
        <p:txBody>
          <a:bodyPr anchor="t" rtlCol="false" tIns="0" lIns="0" bIns="0" rIns="0">
            <a:spAutoFit/>
          </a:bodyPr>
          <a:lstStyle/>
          <a:p>
            <a:pPr algn="just">
              <a:lnSpc>
                <a:spcPts val="3499"/>
              </a:lnSpc>
            </a:pPr>
            <a:r>
              <a:rPr lang="en-US" sz="2499">
                <a:solidFill>
                  <a:srgbClr val="FFFFFF"/>
                </a:solidFill>
                <a:latin typeface="Tomorrow"/>
                <a:ea typeface="Tomorrow"/>
                <a:cs typeface="Tomorrow"/>
                <a:sym typeface="Tomorrow"/>
              </a:rPr>
              <a:t>Fungsi ini menghitung peluang kumulatif bahwa suatu data berada pada kategori tertentu atau lebih r</a:t>
            </a:r>
            <a:r>
              <a:rPr lang="en-US" sz="2499">
                <a:solidFill>
                  <a:srgbClr val="FFFFFF"/>
                </a:solidFill>
                <a:latin typeface="Tomorrow"/>
                <a:ea typeface="Tomorrow"/>
                <a:cs typeface="Tomorrow"/>
                <a:sym typeface="Tomorrow"/>
              </a:rPr>
              <a:t>endah. Dari hasil ini, model menentukan tingkatan kategori yang paling sesuai dengan data.</a:t>
            </a:r>
          </a:p>
        </p:txBody>
      </p:sp>
    </p:spTree>
  </p:cSld>
  <p:clrMapOvr>
    <a:masterClrMapping/>
  </p:clrMapOvr>
  <p:transition spd="slow">
    <p:circl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3364363" y="3036716"/>
            <a:ext cx="4748811" cy="5374819"/>
          </a:xfrm>
          <a:custGeom>
            <a:avLst/>
            <a:gdLst/>
            <a:ahLst/>
            <a:cxnLst/>
            <a:rect r="r" b="b" t="t" l="l"/>
            <a:pathLst>
              <a:path h="5374819" w="4748811">
                <a:moveTo>
                  <a:pt x="0" y="0"/>
                </a:moveTo>
                <a:lnTo>
                  <a:pt x="4748811" y="0"/>
                </a:lnTo>
                <a:lnTo>
                  <a:pt x="4748811" y="5374819"/>
                </a:lnTo>
                <a:lnTo>
                  <a:pt x="0" y="537481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540801" y="2017850"/>
            <a:ext cx="13240961" cy="6580581"/>
            <a:chOff x="0" y="0"/>
            <a:chExt cx="3487331" cy="1733157"/>
          </a:xfrm>
        </p:grpSpPr>
        <p:sp>
          <p:nvSpPr>
            <p:cNvPr name="Freeform 5" id="5"/>
            <p:cNvSpPr/>
            <p:nvPr/>
          </p:nvSpPr>
          <p:spPr>
            <a:xfrm flipH="false" flipV="false" rot="0">
              <a:off x="0" y="0"/>
              <a:ext cx="3487331" cy="1733157"/>
            </a:xfrm>
            <a:custGeom>
              <a:avLst/>
              <a:gdLst/>
              <a:ahLst/>
              <a:cxnLst/>
              <a:rect r="r" b="b" t="t" l="l"/>
              <a:pathLst>
                <a:path h="1733157" w="3487331">
                  <a:moveTo>
                    <a:pt x="0" y="0"/>
                  </a:moveTo>
                  <a:lnTo>
                    <a:pt x="3487331" y="0"/>
                  </a:lnTo>
                  <a:lnTo>
                    <a:pt x="3487331" y="1733157"/>
                  </a:lnTo>
                  <a:lnTo>
                    <a:pt x="0" y="1733157"/>
                  </a:lnTo>
                  <a:close/>
                </a:path>
              </a:pathLst>
            </a:custGeom>
            <a:solidFill>
              <a:srgbClr val="FFFFFF">
                <a:alpha val="10980"/>
              </a:srgbClr>
            </a:solidFill>
          </p:spPr>
        </p:sp>
        <p:sp>
          <p:nvSpPr>
            <p:cNvPr name="TextBox 6" id="6"/>
            <p:cNvSpPr txBox="true"/>
            <p:nvPr/>
          </p:nvSpPr>
          <p:spPr>
            <a:xfrm>
              <a:off x="0" y="-47625"/>
              <a:ext cx="3487331" cy="1780782"/>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10800000">
            <a:off x="12322725" y="0"/>
            <a:ext cx="6304504" cy="3522642"/>
          </a:xfrm>
          <a:custGeom>
            <a:avLst/>
            <a:gdLst/>
            <a:ahLst/>
            <a:cxnLst/>
            <a:rect r="r" b="b" t="t" l="l"/>
            <a:pathLst>
              <a:path h="3522642" w="6304504">
                <a:moveTo>
                  <a:pt x="0" y="0"/>
                </a:moveTo>
                <a:lnTo>
                  <a:pt x="6304504" y="0"/>
                </a:lnTo>
                <a:lnTo>
                  <a:pt x="6304504" y="3522642"/>
                </a:lnTo>
                <a:lnTo>
                  <a:pt x="0" y="3522642"/>
                </a:lnTo>
                <a:lnTo>
                  <a:pt x="0" y="0"/>
                </a:lnTo>
                <a:close/>
              </a:path>
            </a:pathLst>
          </a:custGeom>
          <a:blipFill>
            <a:blip r:embed="rId5"/>
            <a:stretch>
              <a:fillRect l="0" t="0" r="0" b="0"/>
            </a:stretch>
          </a:blipFill>
        </p:spPr>
      </p:sp>
      <p:grpSp>
        <p:nvGrpSpPr>
          <p:cNvPr name="Group 8" id="8"/>
          <p:cNvGrpSpPr/>
          <p:nvPr/>
        </p:nvGrpSpPr>
        <p:grpSpPr>
          <a:xfrm rot="-5400000">
            <a:off x="117509" y="9654691"/>
            <a:ext cx="686516" cy="705894"/>
            <a:chOff x="0" y="0"/>
            <a:chExt cx="196825" cy="202381"/>
          </a:xfrm>
        </p:grpSpPr>
        <p:sp>
          <p:nvSpPr>
            <p:cNvPr name="Freeform 9" id="9"/>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10" id="10"/>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5400000">
            <a:off x="741083" y="8873485"/>
            <a:ext cx="575234" cy="520425"/>
            <a:chOff x="0" y="0"/>
            <a:chExt cx="164921" cy="149207"/>
          </a:xfrm>
        </p:grpSpPr>
        <p:sp>
          <p:nvSpPr>
            <p:cNvPr name="Freeform 12" id="12"/>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3" id="13"/>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5400000">
            <a:off x="1416261" y="9526979"/>
            <a:ext cx="284953" cy="274803"/>
            <a:chOff x="0" y="0"/>
            <a:chExt cx="81697" cy="78786"/>
          </a:xfrm>
        </p:grpSpPr>
        <p:sp>
          <p:nvSpPr>
            <p:cNvPr name="Freeform 15" id="15"/>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6" id="16"/>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5400000">
            <a:off x="11177110" y="5106323"/>
            <a:ext cx="284953" cy="274803"/>
            <a:chOff x="0" y="0"/>
            <a:chExt cx="81697" cy="78786"/>
          </a:xfrm>
        </p:grpSpPr>
        <p:sp>
          <p:nvSpPr>
            <p:cNvPr name="Freeform 18" id="18"/>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9" id="19"/>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5400000">
            <a:off x="11686818" y="5729201"/>
            <a:ext cx="284953" cy="274803"/>
            <a:chOff x="0" y="0"/>
            <a:chExt cx="81697" cy="78786"/>
          </a:xfrm>
        </p:grpSpPr>
        <p:sp>
          <p:nvSpPr>
            <p:cNvPr name="Freeform 21" id="21"/>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2" id="22"/>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11314504" y="3844042"/>
            <a:ext cx="1984443" cy="777240"/>
          </a:xfrm>
          <a:custGeom>
            <a:avLst/>
            <a:gdLst/>
            <a:ahLst/>
            <a:cxnLst/>
            <a:rect r="r" b="b" t="t" l="l"/>
            <a:pathLst>
              <a:path h="777240" w="1984443">
                <a:moveTo>
                  <a:pt x="0" y="0"/>
                </a:moveTo>
                <a:lnTo>
                  <a:pt x="1984442" y="0"/>
                </a:lnTo>
                <a:lnTo>
                  <a:pt x="1984442" y="777240"/>
                </a:lnTo>
                <a:lnTo>
                  <a:pt x="0" y="777240"/>
                </a:lnTo>
                <a:lnTo>
                  <a:pt x="0" y="0"/>
                </a:lnTo>
                <a:close/>
              </a:path>
            </a:pathLst>
          </a:custGeom>
          <a:blipFill>
            <a:blip r:embed="rId6"/>
            <a:stretch>
              <a:fillRect l="0" t="0" r="0" b="0"/>
            </a:stretch>
          </a:blipFill>
        </p:spPr>
      </p:sp>
      <p:sp>
        <p:nvSpPr>
          <p:cNvPr name="Freeform 24" id="24"/>
          <p:cNvSpPr/>
          <p:nvPr/>
        </p:nvSpPr>
        <p:spPr>
          <a:xfrm flipH="false" flipV="false" rot="0">
            <a:off x="9945727" y="3934645"/>
            <a:ext cx="923433" cy="596034"/>
          </a:xfrm>
          <a:custGeom>
            <a:avLst/>
            <a:gdLst/>
            <a:ahLst/>
            <a:cxnLst/>
            <a:rect r="r" b="b" t="t" l="l"/>
            <a:pathLst>
              <a:path h="596034" w="923433">
                <a:moveTo>
                  <a:pt x="0" y="0"/>
                </a:moveTo>
                <a:lnTo>
                  <a:pt x="923433" y="0"/>
                </a:lnTo>
                <a:lnTo>
                  <a:pt x="923433" y="596034"/>
                </a:lnTo>
                <a:lnTo>
                  <a:pt x="0" y="59603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5" id="25"/>
          <p:cNvSpPr/>
          <p:nvPr/>
        </p:nvSpPr>
        <p:spPr>
          <a:xfrm flipH="false" flipV="false" rot="0">
            <a:off x="8215484" y="5359585"/>
            <a:ext cx="923433" cy="596034"/>
          </a:xfrm>
          <a:custGeom>
            <a:avLst/>
            <a:gdLst/>
            <a:ahLst/>
            <a:cxnLst/>
            <a:rect r="r" b="b" t="t" l="l"/>
            <a:pathLst>
              <a:path h="596034" w="923433">
                <a:moveTo>
                  <a:pt x="0" y="0"/>
                </a:moveTo>
                <a:lnTo>
                  <a:pt x="923432" y="0"/>
                </a:lnTo>
                <a:lnTo>
                  <a:pt x="923432" y="596034"/>
                </a:lnTo>
                <a:lnTo>
                  <a:pt x="0" y="59603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6" id="26"/>
          <p:cNvSpPr/>
          <p:nvPr/>
        </p:nvSpPr>
        <p:spPr>
          <a:xfrm flipH="false" flipV="false" rot="0">
            <a:off x="9662791" y="5007639"/>
            <a:ext cx="3636155" cy="1299925"/>
          </a:xfrm>
          <a:custGeom>
            <a:avLst/>
            <a:gdLst/>
            <a:ahLst/>
            <a:cxnLst/>
            <a:rect r="r" b="b" t="t" l="l"/>
            <a:pathLst>
              <a:path h="1299925" w="3636155">
                <a:moveTo>
                  <a:pt x="0" y="0"/>
                </a:moveTo>
                <a:lnTo>
                  <a:pt x="3636155" y="0"/>
                </a:lnTo>
                <a:lnTo>
                  <a:pt x="3636155" y="1299926"/>
                </a:lnTo>
                <a:lnTo>
                  <a:pt x="0" y="1299926"/>
                </a:lnTo>
                <a:lnTo>
                  <a:pt x="0" y="0"/>
                </a:lnTo>
                <a:close/>
              </a:path>
            </a:pathLst>
          </a:custGeom>
          <a:blipFill>
            <a:blip r:embed="rId9"/>
            <a:stretch>
              <a:fillRect l="0" t="-1948" r="0" b="-1948"/>
            </a:stretch>
          </a:blipFill>
        </p:spPr>
      </p:sp>
      <p:sp>
        <p:nvSpPr>
          <p:cNvPr name="Freeform 27" id="27"/>
          <p:cNvSpPr/>
          <p:nvPr/>
        </p:nvSpPr>
        <p:spPr>
          <a:xfrm flipH="false" flipV="false" rot="0">
            <a:off x="11096155" y="6307565"/>
            <a:ext cx="1741084" cy="1429865"/>
          </a:xfrm>
          <a:custGeom>
            <a:avLst/>
            <a:gdLst/>
            <a:ahLst/>
            <a:cxnLst/>
            <a:rect r="r" b="b" t="t" l="l"/>
            <a:pathLst>
              <a:path h="1429865" w="1741084">
                <a:moveTo>
                  <a:pt x="0" y="0"/>
                </a:moveTo>
                <a:lnTo>
                  <a:pt x="1741083" y="0"/>
                </a:lnTo>
                <a:lnTo>
                  <a:pt x="1741083" y="1429865"/>
                </a:lnTo>
                <a:lnTo>
                  <a:pt x="0" y="142986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8" id="28"/>
          <p:cNvSpPr txBox="true"/>
          <p:nvPr/>
        </p:nvSpPr>
        <p:spPr>
          <a:xfrm rot="0">
            <a:off x="1023616" y="3786892"/>
            <a:ext cx="8476766" cy="834390"/>
          </a:xfrm>
          <a:prstGeom prst="rect">
            <a:avLst/>
          </a:prstGeom>
        </p:spPr>
        <p:txBody>
          <a:bodyPr anchor="t" rtlCol="false" tIns="0" lIns="0" bIns="0" rIns="0">
            <a:spAutoFit/>
          </a:bodyPr>
          <a:lstStyle/>
          <a:p>
            <a:pPr algn="just">
              <a:lnSpc>
                <a:spcPts val="3359"/>
              </a:lnSpc>
            </a:pPr>
            <a:r>
              <a:rPr lang="en-US" sz="2400">
                <a:solidFill>
                  <a:srgbClr val="FFFFFF"/>
                </a:solidFill>
                <a:latin typeface="Tomorrow"/>
                <a:ea typeface="Tomorrow"/>
                <a:cs typeface="Tomorrow"/>
                <a:sym typeface="Tomorrow"/>
              </a:rPr>
              <a:t>Logistic Regression berasal dari Linear Regression yang awalnya menggunakan fungsi hipotesis disamping</a:t>
            </a:r>
          </a:p>
        </p:txBody>
      </p:sp>
      <p:sp>
        <p:nvSpPr>
          <p:cNvPr name="TextBox 29" id="29"/>
          <p:cNvSpPr txBox="true"/>
          <p:nvPr/>
        </p:nvSpPr>
        <p:spPr>
          <a:xfrm rot="0">
            <a:off x="1820984" y="813873"/>
            <a:ext cx="9337629" cy="880127"/>
          </a:xfrm>
          <a:prstGeom prst="rect">
            <a:avLst/>
          </a:prstGeom>
        </p:spPr>
        <p:txBody>
          <a:bodyPr anchor="t" rtlCol="false" tIns="0" lIns="0" bIns="0" rIns="0">
            <a:spAutoFit/>
          </a:bodyPr>
          <a:lstStyle/>
          <a:p>
            <a:pPr algn="ctr" marL="0" indent="0" lvl="0">
              <a:lnSpc>
                <a:spcPts val="7139"/>
              </a:lnSpc>
              <a:spcBef>
                <a:spcPct val="0"/>
              </a:spcBef>
            </a:pPr>
            <a:r>
              <a:rPr lang="en-US" b="true" sz="5099">
                <a:solidFill>
                  <a:srgbClr val="FFFFFF"/>
                </a:solidFill>
                <a:latin typeface="Tomorrow Bold"/>
                <a:ea typeface="Tomorrow Bold"/>
                <a:cs typeface="Tomorrow Bold"/>
                <a:sym typeface="Tomorrow Bold"/>
              </a:rPr>
              <a:t>Hypothesis Function</a:t>
            </a:r>
          </a:p>
        </p:txBody>
      </p:sp>
      <p:sp>
        <p:nvSpPr>
          <p:cNvPr name="TextBox 30" id="30"/>
          <p:cNvSpPr txBox="true"/>
          <p:nvPr/>
        </p:nvSpPr>
        <p:spPr>
          <a:xfrm rot="0">
            <a:off x="1023616" y="5002282"/>
            <a:ext cx="6667001" cy="1253490"/>
          </a:xfrm>
          <a:prstGeom prst="rect">
            <a:avLst/>
          </a:prstGeom>
        </p:spPr>
        <p:txBody>
          <a:bodyPr anchor="t" rtlCol="false" tIns="0" lIns="0" bIns="0" rIns="0">
            <a:spAutoFit/>
          </a:bodyPr>
          <a:lstStyle/>
          <a:p>
            <a:pPr algn="just">
              <a:lnSpc>
                <a:spcPts val="3359"/>
              </a:lnSpc>
            </a:pPr>
            <a:r>
              <a:rPr lang="en-US" sz="2400">
                <a:solidFill>
                  <a:srgbClr val="FFFFFF"/>
                </a:solidFill>
                <a:latin typeface="Tomorrow"/>
                <a:ea typeface="Tomorrow"/>
                <a:cs typeface="Tomorrow"/>
                <a:sym typeface="Tomorrow"/>
              </a:rPr>
              <a:t>Dalam Logistic Regression rumus ditambahkan fungsi aktivasi Sigmoid untuk mengubah output menjadi probabilitas (0–1)</a:t>
            </a:r>
          </a:p>
        </p:txBody>
      </p:sp>
      <p:sp>
        <p:nvSpPr>
          <p:cNvPr name="TextBox 31" id="31"/>
          <p:cNvSpPr txBox="true"/>
          <p:nvPr/>
        </p:nvSpPr>
        <p:spPr>
          <a:xfrm rot="0">
            <a:off x="6429559" y="6726665"/>
            <a:ext cx="4495283" cy="1672590"/>
          </a:xfrm>
          <a:prstGeom prst="rect">
            <a:avLst/>
          </a:prstGeom>
        </p:spPr>
        <p:txBody>
          <a:bodyPr anchor="t" rtlCol="false" tIns="0" lIns="0" bIns="0" rIns="0">
            <a:spAutoFit/>
          </a:bodyPr>
          <a:lstStyle/>
          <a:p>
            <a:pPr algn="just">
              <a:lnSpc>
                <a:spcPts val="3359"/>
              </a:lnSpc>
            </a:pPr>
            <a:r>
              <a:rPr lang="en-US" sz="2400">
                <a:solidFill>
                  <a:srgbClr val="FFFFFF"/>
                </a:solidFill>
                <a:latin typeface="Tomorrow"/>
                <a:ea typeface="Tomorrow"/>
                <a:cs typeface="Tomorrow"/>
                <a:sym typeface="Tomorrow"/>
              </a:rPr>
              <a:t>Bentuk ini digunakan untuk Logistic Regression jenis </a:t>
            </a:r>
            <a:r>
              <a:rPr lang="en-US" sz="2400" b="true">
                <a:solidFill>
                  <a:srgbClr val="FFFFFF"/>
                </a:solidFill>
                <a:latin typeface="Tomorrow Bold"/>
                <a:ea typeface="Tomorrow Bold"/>
                <a:cs typeface="Tomorrow Bold"/>
                <a:sym typeface="Tomorrow Bold"/>
              </a:rPr>
              <a:t>Binary</a:t>
            </a:r>
            <a:r>
              <a:rPr lang="en-US" sz="2400">
                <a:solidFill>
                  <a:srgbClr val="FFFFFF"/>
                </a:solidFill>
                <a:latin typeface="Tomorrow"/>
                <a:ea typeface="Tomorrow"/>
                <a:cs typeface="Tomorrow"/>
                <a:sym typeface="Tomorrow"/>
              </a:rPr>
              <a:t>, yaitu klasifikasi dua kelas (0/1).</a:t>
            </a:r>
          </a:p>
        </p:txBody>
      </p:sp>
      <p:sp>
        <p:nvSpPr>
          <p:cNvPr name="TextBox 32" id="32"/>
          <p:cNvSpPr txBox="true"/>
          <p:nvPr/>
        </p:nvSpPr>
        <p:spPr>
          <a:xfrm rot="0">
            <a:off x="1028700" y="2200027"/>
            <a:ext cx="12335663" cy="1253490"/>
          </a:xfrm>
          <a:prstGeom prst="rect">
            <a:avLst/>
          </a:prstGeom>
        </p:spPr>
        <p:txBody>
          <a:bodyPr anchor="t" rtlCol="false" tIns="0" lIns="0" bIns="0" rIns="0">
            <a:spAutoFit/>
          </a:bodyPr>
          <a:lstStyle/>
          <a:p>
            <a:pPr algn="just">
              <a:lnSpc>
                <a:spcPts val="3359"/>
              </a:lnSpc>
            </a:pPr>
            <a:r>
              <a:rPr lang="en-US" sz="2400">
                <a:solidFill>
                  <a:srgbClr val="FFFFFF"/>
                </a:solidFill>
                <a:latin typeface="Tomorrow"/>
                <a:ea typeface="Tomorrow"/>
                <a:cs typeface="Tomorrow"/>
                <a:sym typeface="Tomorrow"/>
              </a:rPr>
              <a:t>Fungsi hipotesis pada regresi logistik menghitung probabilitas bahwa input </a:t>
            </a:r>
            <a:r>
              <a:rPr lang="en-US" sz="2400">
                <a:solidFill>
                  <a:srgbClr val="FFFFFF"/>
                </a:solidFill>
                <a:latin typeface="Tomorrow"/>
                <a:ea typeface="Tomorrow"/>
                <a:cs typeface="Tomorrow"/>
                <a:sym typeface="Tomorrow"/>
              </a:rPr>
              <a:t>x </a:t>
            </a:r>
            <a:r>
              <a:rPr lang="en-US" sz="2400">
                <a:solidFill>
                  <a:srgbClr val="FFFFFF"/>
                </a:solidFill>
                <a:latin typeface="Tomorrow"/>
                <a:ea typeface="Tomorrow"/>
                <a:cs typeface="Tomorrow"/>
                <a:sym typeface="Tomorrow"/>
              </a:rPr>
              <a:t>termasuk kelas positif (y = 1) dengan menerapkan fungsi sigmoid pada kombinasi linear antara parameter </a:t>
            </a:r>
            <a:r>
              <a:rPr lang="en-US" sz="2400">
                <a:solidFill>
                  <a:srgbClr val="FFFFFF"/>
                </a:solidFill>
                <a:latin typeface="Tomorrow"/>
                <a:ea typeface="Tomorrow"/>
                <a:cs typeface="Tomorrow"/>
                <a:sym typeface="Tomorrow"/>
              </a:rPr>
              <a:t>θ </a:t>
            </a:r>
            <a:r>
              <a:rPr lang="en-US" sz="2400">
                <a:solidFill>
                  <a:srgbClr val="FFFFFF"/>
                </a:solidFill>
                <a:latin typeface="Tomorrow"/>
                <a:ea typeface="Tomorrow"/>
                <a:cs typeface="Tomorrow"/>
                <a:sym typeface="Tomorrow"/>
              </a:rPr>
              <a:t>dan fitur </a:t>
            </a:r>
            <a:r>
              <a:rPr lang="en-US" sz="2400">
                <a:solidFill>
                  <a:srgbClr val="FFFFFF"/>
                </a:solidFill>
                <a:latin typeface="Tomorrow"/>
                <a:ea typeface="Tomorrow"/>
                <a:cs typeface="Tomorrow"/>
                <a:sym typeface="Tomorrow"/>
              </a:rPr>
              <a:t>x.</a:t>
            </a:r>
          </a:p>
        </p:txBody>
      </p:sp>
      <p:sp>
        <p:nvSpPr>
          <p:cNvPr name="TextBox 33" id="33"/>
          <p:cNvSpPr txBox="true"/>
          <p:nvPr/>
        </p:nvSpPr>
        <p:spPr>
          <a:xfrm rot="0">
            <a:off x="813714" y="6686056"/>
            <a:ext cx="4493512" cy="1672590"/>
          </a:xfrm>
          <a:prstGeom prst="rect">
            <a:avLst/>
          </a:prstGeom>
        </p:spPr>
        <p:txBody>
          <a:bodyPr anchor="t" rtlCol="false" tIns="0" lIns="0" bIns="0" rIns="0">
            <a:spAutoFit/>
          </a:bodyPr>
          <a:lstStyle/>
          <a:p>
            <a:pPr algn="just" marL="518160" indent="-259080" lvl="1">
              <a:lnSpc>
                <a:spcPts val="3359"/>
              </a:lnSpc>
              <a:buFont typeface="Arial"/>
              <a:buChar char="•"/>
            </a:pPr>
            <a:r>
              <a:rPr lang="en-US" sz="2400">
                <a:solidFill>
                  <a:srgbClr val="FFFFFF"/>
                </a:solidFill>
                <a:latin typeface="Tomorrow"/>
                <a:ea typeface="Tomorrow"/>
                <a:cs typeface="Tomorrow"/>
                <a:sym typeface="Tomorrow"/>
              </a:rPr>
              <a:t>Jika hθ(x) ≥ 0.5, diprediksi sebagai kelas positif (1).</a:t>
            </a:r>
          </a:p>
          <a:p>
            <a:pPr algn="just" marL="518160" indent="-259080" lvl="1">
              <a:lnSpc>
                <a:spcPts val="3359"/>
              </a:lnSpc>
              <a:buFont typeface="Arial"/>
              <a:buChar char="•"/>
            </a:pPr>
            <a:r>
              <a:rPr lang="en-US" sz="2400">
                <a:solidFill>
                  <a:srgbClr val="FFFFFF"/>
                </a:solidFill>
                <a:latin typeface="Tomorrow"/>
                <a:ea typeface="Tomorrow"/>
                <a:cs typeface="Tomorrow"/>
                <a:sym typeface="Tomorrow"/>
              </a:rPr>
              <a:t>Jika hθ(x) &lt; 0.5, diprediksi sebagai kelas negatif (0).</a:t>
            </a:r>
          </a:p>
        </p:txBody>
      </p:sp>
    </p:spTree>
  </p:cSld>
  <p:clrMapOvr>
    <a:masterClrMapping/>
  </p:clrMapOvr>
  <p:transition spd="slow">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3364363" y="3036716"/>
            <a:ext cx="4748811" cy="5374819"/>
          </a:xfrm>
          <a:custGeom>
            <a:avLst/>
            <a:gdLst/>
            <a:ahLst/>
            <a:cxnLst/>
            <a:rect r="r" b="b" t="t" l="l"/>
            <a:pathLst>
              <a:path h="5374819" w="4748811">
                <a:moveTo>
                  <a:pt x="0" y="0"/>
                </a:moveTo>
                <a:lnTo>
                  <a:pt x="4748811" y="0"/>
                </a:lnTo>
                <a:lnTo>
                  <a:pt x="4748811" y="5374819"/>
                </a:lnTo>
                <a:lnTo>
                  <a:pt x="0" y="537481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540801" y="2017850"/>
            <a:ext cx="13240961" cy="6393686"/>
            <a:chOff x="0" y="0"/>
            <a:chExt cx="3487331" cy="1683934"/>
          </a:xfrm>
        </p:grpSpPr>
        <p:sp>
          <p:nvSpPr>
            <p:cNvPr name="Freeform 5" id="5"/>
            <p:cNvSpPr/>
            <p:nvPr/>
          </p:nvSpPr>
          <p:spPr>
            <a:xfrm flipH="false" flipV="false" rot="0">
              <a:off x="0" y="0"/>
              <a:ext cx="3487331" cy="1683934"/>
            </a:xfrm>
            <a:custGeom>
              <a:avLst/>
              <a:gdLst/>
              <a:ahLst/>
              <a:cxnLst/>
              <a:rect r="r" b="b" t="t" l="l"/>
              <a:pathLst>
                <a:path h="1683934" w="3487331">
                  <a:moveTo>
                    <a:pt x="0" y="0"/>
                  </a:moveTo>
                  <a:lnTo>
                    <a:pt x="3487331" y="0"/>
                  </a:lnTo>
                  <a:lnTo>
                    <a:pt x="3487331" y="1683934"/>
                  </a:lnTo>
                  <a:lnTo>
                    <a:pt x="0" y="1683934"/>
                  </a:lnTo>
                  <a:close/>
                </a:path>
              </a:pathLst>
            </a:custGeom>
            <a:solidFill>
              <a:srgbClr val="FFFFFF">
                <a:alpha val="10980"/>
              </a:srgbClr>
            </a:solidFill>
          </p:spPr>
        </p:sp>
        <p:sp>
          <p:nvSpPr>
            <p:cNvPr name="TextBox 6" id="6"/>
            <p:cNvSpPr txBox="true"/>
            <p:nvPr/>
          </p:nvSpPr>
          <p:spPr>
            <a:xfrm>
              <a:off x="0" y="-47625"/>
              <a:ext cx="3487331" cy="1731559"/>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10800000">
            <a:off x="12322725" y="0"/>
            <a:ext cx="6304504" cy="3522642"/>
          </a:xfrm>
          <a:custGeom>
            <a:avLst/>
            <a:gdLst/>
            <a:ahLst/>
            <a:cxnLst/>
            <a:rect r="r" b="b" t="t" l="l"/>
            <a:pathLst>
              <a:path h="3522642" w="6304504">
                <a:moveTo>
                  <a:pt x="0" y="0"/>
                </a:moveTo>
                <a:lnTo>
                  <a:pt x="6304504" y="0"/>
                </a:lnTo>
                <a:lnTo>
                  <a:pt x="6304504" y="3522642"/>
                </a:lnTo>
                <a:lnTo>
                  <a:pt x="0" y="3522642"/>
                </a:lnTo>
                <a:lnTo>
                  <a:pt x="0" y="0"/>
                </a:lnTo>
                <a:close/>
              </a:path>
            </a:pathLst>
          </a:custGeom>
          <a:blipFill>
            <a:blip r:embed="rId5"/>
            <a:stretch>
              <a:fillRect l="0" t="0" r="0" b="0"/>
            </a:stretch>
          </a:blipFill>
        </p:spPr>
      </p:sp>
      <p:grpSp>
        <p:nvGrpSpPr>
          <p:cNvPr name="Group 8" id="8"/>
          <p:cNvGrpSpPr/>
          <p:nvPr/>
        </p:nvGrpSpPr>
        <p:grpSpPr>
          <a:xfrm rot="-5400000">
            <a:off x="117509" y="9654691"/>
            <a:ext cx="686516" cy="705894"/>
            <a:chOff x="0" y="0"/>
            <a:chExt cx="196825" cy="202381"/>
          </a:xfrm>
        </p:grpSpPr>
        <p:sp>
          <p:nvSpPr>
            <p:cNvPr name="Freeform 9" id="9"/>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10" id="10"/>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5400000">
            <a:off x="741083" y="8873485"/>
            <a:ext cx="575234" cy="520425"/>
            <a:chOff x="0" y="0"/>
            <a:chExt cx="164921" cy="149207"/>
          </a:xfrm>
        </p:grpSpPr>
        <p:sp>
          <p:nvSpPr>
            <p:cNvPr name="Freeform 12" id="12"/>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3" id="13"/>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5400000">
            <a:off x="1416261" y="9526979"/>
            <a:ext cx="284953" cy="274803"/>
            <a:chOff x="0" y="0"/>
            <a:chExt cx="81697" cy="78786"/>
          </a:xfrm>
        </p:grpSpPr>
        <p:sp>
          <p:nvSpPr>
            <p:cNvPr name="Freeform 15" id="15"/>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6" id="16"/>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5400000">
            <a:off x="11177110" y="5106323"/>
            <a:ext cx="284953" cy="274803"/>
            <a:chOff x="0" y="0"/>
            <a:chExt cx="81697" cy="78786"/>
          </a:xfrm>
        </p:grpSpPr>
        <p:sp>
          <p:nvSpPr>
            <p:cNvPr name="Freeform 18" id="18"/>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9" id="19"/>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5400000">
            <a:off x="11686818" y="5729201"/>
            <a:ext cx="284953" cy="274803"/>
            <a:chOff x="0" y="0"/>
            <a:chExt cx="81697" cy="78786"/>
          </a:xfrm>
        </p:grpSpPr>
        <p:sp>
          <p:nvSpPr>
            <p:cNvPr name="Freeform 21" id="21"/>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2" id="22"/>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8125282" y="2738699"/>
            <a:ext cx="923433" cy="596034"/>
          </a:xfrm>
          <a:custGeom>
            <a:avLst/>
            <a:gdLst/>
            <a:ahLst/>
            <a:cxnLst/>
            <a:rect r="r" b="b" t="t" l="l"/>
            <a:pathLst>
              <a:path h="596034" w="923433">
                <a:moveTo>
                  <a:pt x="0" y="0"/>
                </a:moveTo>
                <a:lnTo>
                  <a:pt x="923433" y="0"/>
                </a:lnTo>
                <a:lnTo>
                  <a:pt x="923433" y="596034"/>
                </a:lnTo>
                <a:lnTo>
                  <a:pt x="0" y="5960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4" id="24"/>
          <p:cNvSpPr/>
          <p:nvPr/>
        </p:nvSpPr>
        <p:spPr>
          <a:xfrm flipH="false" flipV="false" rot="0">
            <a:off x="9460598" y="2316557"/>
            <a:ext cx="3992781" cy="1440318"/>
          </a:xfrm>
          <a:custGeom>
            <a:avLst/>
            <a:gdLst/>
            <a:ahLst/>
            <a:cxnLst/>
            <a:rect r="r" b="b" t="t" l="l"/>
            <a:pathLst>
              <a:path h="1440318" w="3992781">
                <a:moveTo>
                  <a:pt x="0" y="0"/>
                </a:moveTo>
                <a:lnTo>
                  <a:pt x="3992781" y="0"/>
                </a:lnTo>
                <a:lnTo>
                  <a:pt x="3992781" y="1440318"/>
                </a:lnTo>
                <a:lnTo>
                  <a:pt x="0" y="1440318"/>
                </a:lnTo>
                <a:lnTo>
                  <a:pt x="0" y="0"/>
                </a:lnTo>
                <a:close/>
              </a:path>
            </a:pathLst>
          </a:custGeom>
          <a:blipFill>
            <a:blip r:embed="rId8"/>
            <a:stretch>
              <a:fillRect l="0" t="0" r="0" b="0"/>
            </a:stretch>
          </a:blipFill>
        </p:spPr>
      </p:sp>
      <p:sp>
        <p:nvSpPr>
          <p:cNvPr name="Freeform 25" id="25"/>
          <p:cNvSpPr/>
          <p:nvPr/>
        </p:nvSpPr>
        <p:spPr>
          <a:xfrm flipH="false" flipV="false" rot="0">
            <a:off x="8878361" y="5633541"/>
            <a:ext cx="4602753" cy="751077"/>
          </a:xfrm>
          <a:custGeom>
            <a:avLst/>
            <a:gdLst/>
            <a:ahLst/>
            <a:cxnLst/>
            <a:rect r="r" b="b" t="t" l="l"/>
            <a:pathLst>
              <a:path h="751077" w="4602753">
                <a:moveTo>
                  <a:pt x="0" y="0"/>
                </a:moveTo>
                <a:lnTo>
                  <a:pt x="4602753" y="0"/>
                </a:lnTo>
                <a:lnTo>
                  <a:pt x="4602753" y="751076"/>
                </a:lnTo>
                <a:lnTo>
                  <a:pt x="0" y="751076"/>
                </a:lnTo>
                <a:lnTo>
                  <a:pt x="0" y="0"/>
                </a:lnTo>
                <a:close/>
              </a:path>
            </a:pathLst>
          </a:custGeom>
          <a:blipFill>
            <a:blip r:embed="rId9"/>
            <a:stretch>
              <a:fillRect l="0" t="0" r="0" b="0"/>
            </a:stretch>
          </a:blipFill>
        </p:spPr>
      </p:sp>
      <p:sp>
        <p:nvSpPr>
          <p:cNvPr name="TextBox 26" id="26"/>
          <p:cNvSpPr txBox="true"/>
          <p:nvPr/>
        </p:nvSpPr>
        <p:spPr>
          <a:xfrm rot="0">
            <a:off x="1820984" y="813873"/>
            <a:ext cx="9337629" cy="880127"/>
          </a:xfrm>
          <a:prstGeom prst="rect">
            <a:avLst/>
          </a:prstGeom>
        </p:spPr>
        <p:txBody>
          <a:bodyPr anchor="t" rtlCol="false" tIns="0" lIns="0" bIns="0" rIns="0">
            <a:spAutoFit/>
          </a:bodyPr>
          <a:lstStyle/>
          <a:p>
            <a:pPr algn="ctr" marL="0" indent="0" lvl="0">
              <a:lnSpc>
                <a:spcPts val="7139"/>
              </a:lnSpc>
              <a:spcBef>
                <a:spcPct val="0"/>
              </a:spcBef>
            </a:pPr>
            <a:r>
              <a:rPr lang="en-US" b="true" sz="5099">
                <a:solidFill>
                  <a:srgbClr val="FFFFFF"/>
                </a:solidFill>
                <a:latin typeface="Tomorrow Bold"/>
                <a:ea typeface="Tomorrow Bold"/>
                <a:cs typeface="Tomorrow Bold"/>
                <a:sym typeface="Tomorrow Bold"/>
              </a:rPr>
              <a:t>Hypothesis Function</a:t>
            </a:r>
          </a:p>
        </p:txBody>
      </p:sp>
      <p:sp>
        <p:nvSpPr>
          <p:cNvPr name="TextBox 27" id="27"/>
          <p:cNvSpPr txBox="true"/>
          <p:nvPr/>
        </p:nvSpPr>
        <p:spPr>
          <a:xfrm rot="0">
            <a:off x="813714" y="2381396"/>
            <a:ext cx="6899685" cy="1253490"/>
          </a:xfrm>
          <a:prstGeom prst="rect">
            <a:avLst/>
          </a:prstGeom>
        </p:spPr>
        <p:txBody>
          <a:bodyPr anchor="t" rtlCol="false" tIns="0" lIns="0" bIns="0" rIns="0">
            <a:spAutoFit/>
          </a:bodyPr>
          <a:lstStyle/>
          <a:p>
            <a:pPr algn="just">
              <a:lnSpc>
                <a:spcPts val="3359"/>
              </a:lnSpc>
            </a:pPr>
            <a:r>
              <a:rPr lang="en-US" sz="2400" b="true">
                <a:solidFill>
                  <a:srgbClr val="FFFFFF"/>
                </a:solidFill>
                <a:latin typeface="Tomorrow Bold"/>
                <a:ea typeface="Tomorrow Bold"/>
                <a:cs typeface="Tomorrow Bold"/>
                <a:sym typeface="Tomorrow Bold"/>
              </a:rPr>
              <a:t>jenis Multinomial </a:t>
            </a:r>
            <a:r>
              <a:rPr lang="en-US" sz="2400">
                <a:solidFill>
                  <a:srgbClr val="FFFFFF"/>
                </a:solidFill>
                <a:latin typeface="Tomorrow"/>
                <a:ea typeface="Tomorrow"/>
                <a:cs typeface="Tomorrow"/>
                <a:sym typeface="Tomorrow"/>
              </a:rPr>
              <a:t> menggunakan fungsi </a:t>
            </a:r>
            <a:r>
              <a:rPr lang="en-US" sz="2400" b="true">
                <a:solidFill>
                  <a:srgbClr val="FFFFFF"/>
                </a:solidFill>
                <a:latin typeface="Tomorrow Bold"/>
                <a:ea typeface="Tomorrow Bold"/>
                <a:cs typeface="Tomorrow Bold"/>
                <a:sym typeface="Tomorrow Bold"/>
              </a:rPr>
              <a:t>Softmax</a:t>
            </a:r>
            <a:r>
              <a:rPr lang="en-US" sz="2400">
                <a:solidFill>
                  <a:srgbClr val="FFFFFF"/>
                </a:solidFill>
                <a:latin typeface="Tomorrow"/>
                <a:ea typeface="Tomorrow"/>
                <a:cs typeface="Tomorrow"/>
                <a:sym typeface="Tomorrow"/>
              </a:rPr>
              <a:t>, yang mengubah skor tiap kelas menjadi probabilitas</a:t>
            </a:r>
          </a:p>
        </p:txBody>
      </p:sp>
      <p:sp>
        <p:nvSpPr>
          <p:cNvPr name="TextBox 28" id="28"/>
          <p:cNvSpPr txBox="true"/>
          <p:nvPr/>
        </p:nvSpPr>
        <p:spPr>
          <a:xfrm rot="0">
            <a:off x="841449" y="5353759"/>
            <a:ext cx="6347567" cy="1253490"/>
          </a:xfrm>
          <a:prstGeom prst="rect">
            <a:avLst/>
          </a:prstGeom>
        </p:spPr>
        <p:txBody>
          <a:bodyPr anchor="t" rtlCol="false" tIns="0" lIns="0" bIns="0" rIns="0">
            <a:spAutoFit/>
          </a:bodyPr>
          <a:lstStyle/>
          <a:p>
            <a:pPr algn="just">
              <a:lnSpc>
                <a:spcPts val="3359"/>
              </a:lnSpc>
            </a:pPr>
            <a:r>
              <a:rPr lang="en-US" sz="2400" b="true">
                <a:solidFill>
                  <a:srgbClr val="FFFFFF"/>
                </a:solidFill>
                <a:latin typeface="Tomorrow Bold"/>
                <a:ea typeface="Tomorrow Bold"/>
                <a:cs typeface="Tomorrow Bold"/>
                <a:sym typeface="Tomorrow Bold"/>
              </a:rPr>
              <a:t>jenis Ordinal </a:t>
            </a:r>
            <a:r>
              <a:rPr lang="en-US" sz="2400">
                <a:solidFill>
                  <a:srgbClr val="FFFFFF"/>
                </a:solidFill>
                <a:latin typeface="Tomorrow"/>
                <a:ea typeface="Tomorrow"/>
                <a:cs typeface="Tomorrow"/>
                <a:sym typeface="Tomorrow"/>
              </a:rPr>
              <a:t> menggunakan fungsi </a:t>
            </a:r>
            <a:r>
              <a:rPr lang="en-US" sz="2400" b="true">
                <a:solidFill>
                  <a:srgbClr val="FFFFFF"/>
                </a:solidFill>
                <a:latin typeface="Tomorrow Bold"/>
                <a:ea typeface="Tomorrow Bold"/>
                <a:cs typeface="Tomorrow Bold"/>
                <a:sym typeface="Tomorrow Bold"/>
              </a:rPr>
              <a:t>Softmax</a:t>
            </a:r>
            <a:r>
              <a:rPr lang="en-US" sz="2400">
                <a:solidFill>
                  <a:srgbClr val="FFFFFF"/>
                </a:solidFill>
                <a:latin typeface="Tomorrow"/>
                <a:ea typeface="Tomorrow"/>
                <a:cs typeface="Tomorrow"/>
                <a:sym typeface="Tomorrow"/>
              </a:rPr>
              <a:t>, memakai beberapa threshold pada fungsi sigmoid/softmax, misalnya</a:t>
            </a:r>
          </a:p>
        </p:txBody>
      </p:sp>
      <p:sp>
        <p:nvSpPr>
          <p:cNvPr name="Freeform 29" id="29"/>
          <p:cNvSpPr/>
          <p:nvPr/>
        </p:nvSpPr>
        <p:spPr>
          <a:xfrm flipH="false" flipV="false" rot="0">
            <a:off x="7571972" y="5711062"/>
            <a:ext cx="923433" cy="596034"/>
          </a:xfrm>
          <a:custGeom>
            <a:avLst/>
            <a:gdLst/>
            <a:ahLst/>
            <a:cxnLst/>
            <a:rect r="r" b="b" t="t" l="l"/>
            <a:pathLst>
              <a:path h="596034" w="923433">
                <a:moveTo>
                  <a:pt x="0" y="0"/>
                </a:moveTo>
                <a:lnTo>
                  <a:pt x="923433" y="0"/>
                </a:lnTo>
                <a:lnTo>
                  <a:pt x="923433" y="596034"/>
                </a:lnTo>
                <a:lnTo>
                  <a:pt x="0" y="5960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0" id="30"/>
          <p:cNvSpPr txBox="true"/>
          <p:nvPr/>
        </p:nvSpPr>
        <p:spPr>
          <a:xfrm rot="0">
            <a:off x="813714" y="3847758"/>
            <a:ext cx="12639665" cy="1253490"/>
          </a:xfrm>
          <a:prstGeom prst="rect">
            <a:avLst/>
          </a:prstGeom>
        </p:spPr>
        <p:txBody>
          <a:bodyPr anchor="t" rtlCol="false" tIns="0" lIns="0" bIns="0" rIns="0">
            <a:spAutoFit/>
          </a:bodyPr>
          <a:lstStyle/>
          <a:p>
            <a:pPr algn="just">
              <a:lnSpc>
                <a:spcPts val="3359"/>
              </a:lnSpc>
            </a:pPr>
            <a:r>
              <a:rPr lang="en-US" sz="2400">
                <a:solidFill>
                  <a:srgbClr val="FFFFFF"/>
                </a:solidFill>
                <a:latin typeface="Tomorrow"/>
                <a:ea typeface="Tomorrow"/>
                <a:cs typeface="Tomorrow"/>
                <a:sym typeface="Tomorrow"/>
              </a:rPr>
              <a:t>Pada multiclass </a:t>
            </a:r>
            <a:r>
              <a:rPr lang="en-US" sz="2400">
                <a:solidFill>
                  <a:srgbClr val="FFFFFF"/>
                </a:solidFill>
                <a:latin typeface="Tomorrow"/>
                <a:ea typeface="Tomorrow"/>
                <a:cs typeface="Tomorrow"/>
                <a:sym typeface="Tomorrow"/>
              </a:rPr>
              <a:t>l</a:t>
            </a:r>
            <a:r>
              <a:rPr lang="en-US" sz="2400">
                <a:solidFill>
                  <a:srgbClr val="FFFFFF"/>
                </a:solidFill>
                <a:latin typeface="Tomorrow"/>
                <a:ea typeface="Tomorrow"/>
                <a:cs typeface="Tomorrow"/>
                <a:sym typeface="Tomorrow"/>
              </a:rPr>
              <a:t>ogis</a:t>
            </a:r>
            <a:r>
              <a:rPr lang="en-US" sz="2400">
                <a:solidFill>
                  <a:srgbClr val="FFFFFF"/>
                </a:solidFill>
                <a:latin typeface="Tomorrow"/>
                <a:ea typeface="Tomorrow"/>
                <a:cs typeface="Tomorrow"/>
                <a:sym typeface="Tomorrow"/>
              </a:rPr>
              <a:t>ti</a:t>
            </a:r>
            <a:r>
              <a:rPr lang="en-US" sz="2400">
                <a:solidFill>
                  <a:srgbClr val="FFFFFF"/>
                </a:solidFill>
                <a:latin typeface="Tomorrow"/>
                <a:ea typeface="Tomorrow"/>
                <a:cs typeface="Tomorrow"/>
                <a:sym typeface="Tomorrow"/>
              </a:rPr>
              <a:t>c regressio</a:t>
            </a:r>
            <a:r>
              <a:rPr lang="en-US" sz="2400">
                <a:solidFill>
                  <a:srgbClr val="FFFFFF"/>
                </a:solidFill>
                <a:latin typeface="Tomorrow"/>
                <a:ea typeface="Tomorrow"/>
                <a:cs typeface="Tomorrow"/>
                <a:sym typeface="Tomorrow"/>
              </a:rPr>
              <a:t>n</a:t>
            </a:r>
            <a:r>
              <a:rPr lang="en-US" sz="2400">
                <a:solidFill>
                  <a:srgbClr val="FFFFFF"/>
                </a:solidFill>
                <a:latin typeface="Tomorrow"/>
                <a:ea typeface="Tomorrow"/>
                <a:cs typeface="Tomorrow"/>
                <a:sym typeface="Tomorrow"/>
              </a:rPr>
              <a:t>, rumus s</a:t>
            </a:r>
            <a:r>
              <a:rPr lang="en-US" sz="2400">
                <a:solidFill>
                  <a:srgbClr val="FFFFFF"/>
                </a:solidFill>
                <a:latin typeface="Tomorrow"/>
                <a:ea typeface="Tomorrow"/>
                <a:cs typeface="Tomorrow"/>
                <a:sym typeface="Tomorrow"/>
              </a:rPr>
              <a:t>o</a:t>
            </a:r>
            <a:r>
              <a:rPr lang="en-US" sz="2400">
                <a:solidFill>
                  <a:srgbClr val="FFFFFF"/>
                </a:solidFill>
                <a:latin typeface="Tomorrow"/>
                <a:ea typeface="Tomorrow"/>
                <a:cs typeface="Tomorrow"/>
                <a:sym typeface="Tomorrow"/>
              </a:rPr>
              <a:t>ft</a:t>
            </a:r>
            <a:r>
              <a:rPr lang="en-US" sz="2400">
                <a:solidFill>
                  <a:srgbClr val="FFFFFF"/>
                </a:solidFill>
                <a:latin typeface="Tomorrow"/>
                <a:ea typeface="Tomorrow"/>
                <a:cs typeface="Tomorrow"/>
                <a:sym typeface="Tomorrow"/>
              </a:rPr>
              <a:t>ma</a:t>
            </a:r>
            <a:r>
              <a:rPr lang="en-US" sz="2400">
                <a:solidFill>
                  <a:srgbClr val="FFFFFF"/>
                </a:solidFill>
                <a:latin typeface="Tomorrow"/>
                <a:ea typeface="Tomorrow"/>
                <a:cs typeface="Tomorrow"/>
                <a:sym typeface="Tomorrow"/>
              </a:rPr>
              <a:t>x</a:t>
            </a:r>
            <a:r>
              <a:rPr lang="en-US" sz="2400">
                <a:solidFill>
                  <a:srgbClr val="FFFFFF"/>
                </a:solidFill>
                <a:latin typeface="Tomorrow"/>
                <a:ea typeface="Tomorrow"/>
                <a:cs typeface="Tomorrow"/>
                <a:sym typeface="Tomorrow"/>
              </a:rPr>
              <a:t> </a:t>
            </a:r>
            <a:r>
              <a:rPr lang="en-US" sz="2400">
                <a:solidFill>
                  <a:srgbClr val="FFFFFF"/>
                </a:solidFill>
                <a:latin typeface="Tomorrow"/>
                <a:ea typeface="Tomorrow"/>
                <a:cs typeface="Tomorrow"/>
                <a:sym typeface="Tomorrow"/>
              </a:rPr>
              <a:t>P ( y = k∣x ) digunakan untuk menghitung pr</a:t>
            </a:r>
            <a:r>
              <a:rPr lang="en-US" sz="2400">
                <a:solidFill>
                  <a:srgbClr val="FFFFFF"/>
                </a:solidFill>
                <a:latin typeface="Tomorrow"/>
                <a:ea typeface="Tomorrow"/>
                <a:cs typeface="Tomorrow"/>
                <a:sym typeface="Tomorrow"/>
              </a:rPr>
              <a:t>o</a:t>
            </a:r>
            <a:r>
              <a:rPr lang="en-US" sz="2400">
                <a:solidFill>
                  <a:srgbClr val="FFFFFF"/>
                </a:solidFill>
                <a:latin typeface="Tomorrow"/>
                <a:ea typeface="Tomorrow"/>
                <a:cs typeface="Tomorrow"/>
                <a:sym typeface="Tomorrow"/>
              </a:rPr>
              <a:t>babili</a:t>
            </a:r>
            <a:r>
              <a:rPr lang="en-US" sz="2400">
                <a:solidFill>
                  <a:srgbClr val="FFFFFF"/>
                </a:solidFill>
                <a:latin typeface="Tomorrow"/>
                <a:ea typeface="Tomorrow"/>
                <a:cs typeface="Tomorrow"/>
                <a:sym typeface="Tomorrow"/>
              </a:rPr>
              <a:t>t</a:t>
            </a:r>
            <a:r>
              <a:rPr lang="en-US" sz="2400">
                <a:solidFill>
                  <a:srgbClr val="FFFFFF"/>
                </a:solidFill>
                <a:latin typeface="Tomorrow"/>
                <a:ea typeface="Tomorrow"/>
                <a:cs typeface="Tomorrow"/>
                <a:sym typeface="Tomorrow"/>
              </a:rPr>
              <a:t>as bahwa sebuah input ter</a:t>
            </a:r>
            <a:r>
              <a:rPr lang="en-US" sz="2400">
                <a:solidFill>
                  <a:srgbClr val="FFFFFF"/>
                </a:solidFill>
                <a:latin typeface="Tomorrow"/>
                <a:ea typeface="Tomorrow"/>
                <a:cs typeface="Tomorrow"/>
                <a:sym typeface="Tomorrow"/>
              </a:rPr>
              <a:t>ma</a:t>
            </a:r>
            <a:r>
              <a:rPr lang="en-US" sz="2400">
                <a:solidFill>
                  <a:srgbClr val="FFFFFF"/>
                </a:solidFill>
                <a:latin typeface="Tomorrow"/>
                <a:ea typeface="Tomorrow"/>
                <a:cs typeface="Tomorrow"/>
                <a:sym typeface="Tomorrow"/>
              </a:rPr>
              <a:t>suk ke kelas ke-k dengan membandingkan skor kelas tersebut terhadap total skor semua kelas</a:t>
            </a:r>
          </a:p>
        </p:txBody>
      </p:sp>
      <p:sp>
        <p:nvSpPr>
          <p:cNvPr name="TextBox 31" id="31"/>
          <p:cNvSpPr txBox="true"/>
          <p:nvPr/>
        </p:nvSpPr>
        <p:spPr>
          <a:xfrm rot="0">
            <a:off x="869184" y="6816799"/>
            <a:ext cx="12639665" cy="1253490"/>
          </a:xfrm>
          <a:prstGeom prst="rect">
            <a:avLst/>
          </a:prstGeom>
        </p:spPr>
        <p:txBody>
          <a:bodyPr anchor="t" rtlCol="false" tIns="0" lIns="0" bIns="0" rIns="0">
            <a:spAutoFit/>
          </a:bodyPr>
          <a:lstStyle/>
          <a:p>
            <a:pPr algn="just">
              <a:lnSpc>
                <a:spcPts val="3359"/>
              </a:lnSpc>
            </a:pPr>
            <a:r>
              <a:rPr lang="en-US" sz="2400">
                <a:solidFill>
                  <a:srgbClr val="FFFFFF"/>
                </a:solidFill>
                <a:latin typeface="Tomorrow"/>
                <a:ea typeface="Tomorrow"/>
                <a:cs typeface="Tomorrow"/>
                <a:sym typeface="Tomorrow"/>
              </a:rPr>
              <a:t>Sementara itu, pada ordinal </a:t>
            </a:r>
            <a:r>
              <a:rPr lang="en-US" sz="2400">
                <a:solidFill>
                  <a:srgbClr val="FFFFFF"/>
                </a:solidFill>
                <a:latin typeface="Tomorrow"/>
                <a:ea typeface="Tomorrow"/>
                <a:cs typeface="Tomorrow"/>
                <a:sym typeface="Tomorrow"/>
              </a:rPr>
              <a:t>l</a:t>
            </a:r>
            <a:r>
              <a:rPr lang="en-US" sz="2400">
                <a:solidFill>
                  <a:srgbClr val="FFFFFF"/>
                </a:solidFill>
                <a:latin typeface="Tomorrow"/>
                <a:ea typeface="Tomorrow"/>
                <a:cs typeface="Tomorrow"/>
                <a:sym typeface="Tomorrow"/>
              </a:rPr>
              <a:t>ogis</a:t>
            </a:r>
            <a:r>
              <a:rPr lang="en-US" sz="2400">
                <a:solidFill>
                  <a:srgbClr val="FFFFFF"/>
                </a:solidFill>
                <a:latin typeface="Tomorrow"/>
                <a:ea typeface="Tomorrow"/>
                <a:cs typeface="Tomorrow"/>
                <a:sym typeface="Tomorrow"/>
              </a:rPr>
              <a:t>ti</a:t>
            </a:r>
            <a:r>
              <a:rPr lang="en-US" sz="2400">
                <a:solidFill>
                  <a:srgbClr val="FFFFFF"/>
                </a:solidFill>
                <a:latin typeface="Tomorrow"/>
                <a:ea typeface="Tomorrow"/>
                <a:cs typeface="Tomorrow"/>
                <a:sym typeface="Tomorrow"/>
              </a:rPr>
              <a:t>c regressio</a:t>
            </a:r>
            <a:r>
              <a:rPr lang="en-US" sz="2400">
                <a:solidFill>
                  <a:srgbClr val="FFFFFF"/>
                </a:solidFill>
                <a:latin typeface="Tomorrow"/>
                <a:ea typeface="Tomorrow"/>
                <a:cs typeface="Tomorrow"/>
                <a:sym typeface="Tomorrow"/>
              </a:rPr>
              <a:t>n digunakan</a:t>
            </a:r>
            <a:r>
              <a:rPr lang="en-US" sz="2400">
                <a:solidFill>
                  <a:srgbClr val="FFFFFF"/>
                </a:solidFill>
                <a:latin typeface="Tomorrow"/>
                <a:ea typeface="Tomorrow"/>
                <a:cs typeface="Tomorrow"/>
                <a:sym typeface="Tomorrow"/>
              </a:rPr>
              <a:t> rumus ku</a:t>
            </a:r>
            <a:r>
              <a:rPr lang="en-US" sz="2400">
                <a:solidFill>
                  <a:srgbClr val="FFFFFF"/>
                </a:solidFill>
                <a:latin typeface="Tomorrow"/>
                <a:ea typeface="Tomorrow"/>
                <a:cs typeface="Tomorrow"/>
                <a:sym typeface="Tomorrow"/>
              </a:rPr>
              <a:t>mulatif </a:t>
            </a:r>
            <a:r>
              <a:rPr lang="en-US" sz="2400">
                <a:solidFill>
                  <a:srgbClr val="FFFFFF"/>
                </a:solidFill>
                <a:latin typeface="Tomorrow"/>
                <a:ea typeface="Tomorrow"/>
                <a:cs typeface="Tomorrow"/>
                <a:sym typeface="Tomorrow"/>
              </a:rPr>
              <a:t>P ( y ≤ k∣x ) untuk menghitung pr</a:t>
            </a:r>
            <a:r>
              <a:rPr lang="en-US" sz="2400">
                <a:solidFill>
                  <a:srgbClr val="FFFFFF"/>
                </a:solidFill>
                <a:latin typeface="Tomorrow"/>
                <a:ea typeface="Tomorrow"/>
                <a:cs typeface="Tomorrow"/>
                <a:sym typeface="Tomorrow"/>
              </a:rPr>
              <a:t>o</a:t>
            </a:r>
            <a:r>
              <a:rPr lang="en-US" sz="2400">
                <a:solidFill>
                  <a:srgbClr val="FFFFFF"/>
                </a:solidFill>
                <a:latin typeface="Tomorrow"/>
                <a:ea typeface="Tomorrow"/>
                <a:cs typeface="Tomorrow"/>
                <a:sym typeface="Tomorrow"/>
              </a:rPr>
              <a:t>babili</a:t>
            </a:r>
            <a:r>
              <a:rPr lang="en-US" sz="2400">
                <a:solidFill>
                  <a:srgbClr val="FFFFFF"/>
                </a:solidFill>
                <a:latin typeface="Tomorrow"/>
                <a:ea typeface="Tomorrow"/>
                <a:cs typeface="Tomorrow"/>
                <a:sym typeface="Tomorrow"/>
              </a:rPr>
              <a:t>t</a:t>
            </a:r>
            <a:r>
              <a:rPr lang="en-US" sz="2400">
                <a:solidFill>
                  <a:srgbClr val="FFFFFF"/>
                </a:solidFill>
                <a:latin typeface="Tomorrow"/>
                <a:ea typeface="Tomorrow"/>
                <a:cs typeface="Tomorrow"/>
                <a:sym typeface="Tomorrow"/>
              </a:rPr>
              <a:t>as bahwa output ber</a:t>
            </a:r>
            <a:r>
              <a:rPr lang="en-US" sz="2400">
                <a:solidFill>
                  <a:srgbClr val="FFFFFF"/>
                </a:solidFill>
                <a:latin typeface="Tomorrow"/>
                <a:ea typeface="Tomorrow"/>
                <a:cs typeface="Tomorrow"/>
                <a:sym typeface="Tomorrow"/>
              </a:rPr>
              <a:t>ada</a:t>
            </a:r>
            <a:r>
              <a:rPr lang="en-US" sz="2400">
                <a:solidFill>
                  <a:srgbClr val="FFFFFF"/>
                </a:solidFill>
                <a:latin typeface="Tomorrow"/>
                <a:ea typeface="Tomorrow"/>
                <a:cs typeface="Tomorrow"/>
                <a:sym typeface="Tomorrow"/>
              </a:rPr>
              <a:t> pada kelas ke-k atau lebih rendah, karena kelas memiliki urutan.</a:t>
            </a:r>
          </a:p>
        </p:txBody>
      </p:sp>
    </p:spTree>
  </p:cSld>
  <p:clrMapOvr>
    <a:masterClrMapping/>
  </p:clrMapOvr>
  <p:transition spd="slow">
    <p:circl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1899123"/>
            <a:ext cx="16230600" cy="7859269"/>
            <a:chOff x="0" y="0"/>
            <a:chExt cx="4274726" cy="2069931"/>
          </a:xfrm>
        </p:grpSpPr>
        <p:sp>
          <p:nvSpPr>
            <p:cNvPr name="Freeform 4" id="4"/>
            <p:cNvSpPr/>
            <p:nvPr/>
          </p:nvSpPr>
          <p:spPr>
            <a:xfrm flipH="false" flipV="false" rot="0">
              <a:off x="0" y="0"/>
              <a:ext cx="4274726" cy="2069931"/>
            </a:xfrm>
            <a:custGeom>
              <a:avLst/>
              <a:gdLst/>
              <a:ahLst/>
              <a:cxnLst/>
              <a:rect r="r" b="b" t="t" l="l"/>
              <a:pathLst>
                <a:path h="2069931" w="4274726">
                  <a:moveTo>
                    <a:pt x="0" y="0"/>
                  </a:moveTo>
                  <a:lnTo>
                    <a:pt x="4274726" y="0"/>
                  </a:lnTo>
                  <a:lnTo>
                    <a:pt x="4274726" y="2069931"/>
                  </a:lnTo>
                  <a:lnTo>
                    <a:pt x="0" y="2069931"/>
                  </a:lnTo>
                  <a:close/>
                </a:path>
              </a:pathLst>
            </a:custGeom>
            <a:solidFill>
              <a:srgbClr val="FFFFFF">
                <a:alpha val="10980"/>
              </a:srgbClr>
            </a:solidFill>
          </p:spPr>
        </p:sp>
        <p:sp>
          <p:nvSpPr>
            <p:cNvPr name="TextBox 5" id="5"/>
            <p:cNvSpPr txBox="true"/>
            <p:nvPr/>
          </p:nvSpPr>
          <p:spPr>
            <a:xfrm>
              <a:off x="0" y="-47625"/>
              <a:ext cx="4274726" cy="2117556"/>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835492"/>
            <a:ext cx="16230600" cy="880127"/>
          </a:xfrm>
          <a:prstGeom prst="rect">
            <a:avLst/>
          </a:prstGeom>
        </p:spPr>
        <p:txBody>
          <a:bodyPr anchor="t" rtlCol="false" tIns="0" lIns="0" bIns="0" rIns="0">
            <a:spAutoFit/>
          </a:bodyPr>
          <a:lstStyle/>
          <a:p>
            <a:pPr algn="ctr" marL="0" indent="0" lvl="0">
              <a:lnSpc>
                <a:spcPts val="7139"/>
              </a:lnSpc>
              <a:spcBef>
                <a:spcPct val="0"/>
              </a:spcBef>
            </a:pPr>
            <a:r>
              <a:rPr lang="en-US" b="true" sz="5099">
                <a:solidFill>
                  <a:srgbClr val="FFFFFF"/>
                </a:solidFill>
                <a:latin typeface="Tomorrow Bold"/>
                <a:ea typeface="Tomorrow Bold"/>
                <a:cs typeface="Tomorrow Bold"/>
                <a:sym typeface="Tomorrow Bold"/>
              </a:rPr>
              <a:t>Cost  Function</a:t>
            </a:r>
          </a:p>
        </p:txBody>
      </p:sp>
      <p:sp>
        <p:nvSpPr>
          <p:cNvPr name="Freeform 7" id="7"/>
          <p:cNvSpPr/>
          <p:nvPr/>
        </p:nvSpPr>
        <p:spPr>
          <a:xfrm flipH="false" flipV="false" rot="444080">
            <a:off x="15811040" y="6742185"/>
            <a:ext cx="3529482" cy="3186163"/>
          </a:xfrm>
          <a:custGeom>
            <a:avLst/>
            <a:gdLst/>
            <a:ahLst/>
            <a:cxnLst/>
            <a:rect r="r" b="b" t="t" l="l"/>
            <a:pathLst>
              <a:path h="3186163" w="3529482">
                <a:moveTo>
                  <a:pt x="0" y="0"/>
                </a:moveTo>
                <a:lnTo>
                  <a:pt x="3529482" y="0"/>
                </a:lnTo>
                <a:lnTo>
                  <a:pt x="3529482" y="3186164"/>
                </a:lnTo>
                <a:lnTo>
                  <a:pt x="0" y="31861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345181" y="940267"/>
            <a:ext cx="747321" cy="768415"/>
            <a:chOff x="0" y="0"/>
            <a:chExt cx="196825" cy="202381"/>
          </a:xfrm>
        </p:grpSpPr>
        <p:sp>
          <p:nvSpPr>
            <p:cNvPr name="Freeform 9" id="9"/>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10" id="10"/>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208142" y="1759134"/>
            <a:ext cx="626183" cy="566519"/>
            <a:chOff x="0" y="0"/>
            <a:chExt cx="164921" cy="149207"/>
          </a:xfrm>
        </p:grpSpPr>
        <p:sp>
          <p:nvSpPr>
            <p:cNvPr name="Freeform 12" id="12"/>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3" id="13"/>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524133" y="1025332"/>
            <a:ext cx="310192" cy="299142"/>
            <a:chOff x="0" y="0"/>
            <a:chExt cx="81697" cy="78786"/>
          </a:xfrm>
        </p:grpSpPr>
        <p:sp>
          <p:nvSpPr>
            <p:cNvPr name="Freeform 15" id="15"/>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6" id="16"/>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6722033" y="2325653"/>
            <a:ext cx="310192" cy="299142"/>
            <a:chOff x="0" y="0"/>
            <a:chExt cx="81697" cy="78786"/>
          </a:xfrm>
        </p:grpSpPr>
        <p:sp>
          <p:nvSpPr>
            <p:cNvPr name="Freeform 18" id="18"/>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9" id="19"/>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7486375" y="2988253"/>
            <a:ext cx="310192" cy="299142"/>
            <a:chOff x="0" y="0"/>
            <a:chExt cx="81697" cy="78786"/>
          </a:xfrm>
        </p:grpSpPr>
        <p:sp>
          <p:nvSpPr>
            <p:cNvPr name="Freeform 21" id="21"/>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2" id="22"/>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7016017" y="3559465"/>
            <a:ext cx="3834460" cy="1370819"/>
          </a:xfrm>
          <a:custGeom>
            <a:avLst/>
            <a:gdLst/>
            <a:ahLst/>
            <a:cxnLst/>
            <a:rect r="r" b="b" t="t" l="l"/>
            <a:pathLst>
              <a:path h="1370819" w="3834460">
                <a:moveTo>
                  <a:pt x="0" y="0"/>
                </a:moveTo>
                <a:lnTo>
                  <a:pt x="3834460" y="0"/>
                </a:lnTo>
                <a:lnTo>
                  <a:pt x="3834460" y="1370819"/>
                </a:lnTo>
                <a:lnTo>
                  <a:pt x="0" y="1370819"/>
                </a:lnTo>
                <a:lnTo>
                  <a:pt x="0" y="0"/>
                </a:lnTo>
                <a:close/>
              </a:path>
            </a:pathLst>
          </a:custGeom>
          <a:blipFill>
            <a:blip r:embed="rId5"/>
            <a:stretch>
              <a:fillRect l="0" t="0" r="0" b="0"/>
            </a:stretch>
          </a:blipFill>
        </p:spPr>
      </p:sp>
      <p:sp>
        <p:nvSpPr>
          <p:cNvPr name="TextBox 24" id="24"/>
          <p:cNvSpPr txBox="true"/>
          <p:nvPr/>
        </p:nvSpPr>
        <p:spPr>
          <a:xfrm rot="0">
            <a:off x="1345181" y="5249578"/>
            <a:ext cx="14596186" cy="4187190"/>
          </a:xfrm>
          <a:prstGeom prst="rect">
            <a:avLst/>
          </a:prstGeom>
        </p:spPr>
        <p:txBody>
          <a:bodyPr anchor="t" rtlCol="false" tIns="0" lIns="0" bIns="0" rIns="0">
            <a:spAutoFit/>
          </a:bodyPr>
          <a:lstStyle/>
          <a:p>
            <a:pPr algn="just">
              <a:lnSpc>
                <a:spcPts val="3359"/>
              </a:lnSpc>
              <a:spcBef>
                <a:spcPct val="0"/>
              </a:spcBef>
            </a:pPr>
            <a:r>
              <a:rPr lang="en-US" sz="2399">
                <a:solidFill>
                  <a:srgbClr val="FFFFFF"/>
                </a:solidFill>
                <a:latin typeface="Tomorrow"/>
                <a:ea typeface="Tomorrow"/>
                <a:cs typeface="Tomorrow"/>
                <a:sym typeface="Tomorrow"/>
              </a:rPr>
              <a:t>           </a:t>
            </a:r>
            <a:r>
              <a:rPr lang="en-US" sz="2399">
                <a:solidFill>
                  <a:srgbClr val="FFFFFF"/>
                </a:solidFill>
                <a:latin typeface="Tomorrow"/>
                <a:ea typeface="Tomorrow"/>
                <a:cs typeface="Tomorrow"/>
                <a:sym typeface="Tomorrow"/>
              </a:rPr>
              <a:t>Nilai loss itu sendiri berasal dari loss function, yaitu fungsi yang menghitung kesalahan model  dengan membandingkan nilai hasil prediksi dengan nilai kebenaran awal untuk data ke (i). Pada logistic regression, loss function yang digunakan adalah Binary Cross Entropy, dengan rumus:</a:t>
            </a:r>
          </a:p>
          <a:p>
            <a:pPr algn="just">
              <a:lnSpc>
                <a:spcPts val="3359"/>
              </a:lnSpc>
              <a:spcBef>
                <a:spcPct val="0"/>
              </a:spcBef>
            </a:pPr>
          </a:p>
          <a:p>
            <a:pPr algn="just">
              <a:lnSpc>
                <a:spcPts val="3359"/>
              </a:lnSpc>
              <a:spcBef>
                <a:spcPct val="0"/>
              </a:spcBef>
            </a:pPr>
          </a:p>
          <a:p>
            <a:pPr algn="just">
              <a:lnSpc>
                <a:spcPts val="3359"/>
              </a:lnSpc>
              <a:spcBef>
                <a:spcPct val="0"/>
              </a:spcBef>
            </a:pPr>
          </a:p>
          <a:p>
            <a:pPr algn="just">
              <a:lnSpc>
                <a:spcPts val="3359"/>
              </a:lnSpc>
              <a:spcBef>
                <a:spcPct val="0"/>
              </a:spcBef>
            </a:pPr>
          </a:p>
          <a:p>
            <a:pPr algn="just">
              <a:lnSpc>
                <a:spcPts val="3359"/>
              </a:lnSpc>
              <a:spcBef>
                <a:spcPct val="0"/>
              </a:spcBef>
            </a:pPr>
            <a:r>
              <a:rPr lang="en-US" sz="2399">
                <a:solidFill>
                  <a:srgbClr val="FFFFFF"/>
                </a:solidFill>
                <a:latin typeface="Tomorrow"/>
                <a:ea typeface="Tomorrow"/>
                <a:cs typeface="Tomorrow"/>
                <a:sym typeface="Tomorrow"/>
              </a:rPr>
              <a:t>Loss akan bernilai kecil jika probabilitas prediksi mendekati label sebenarnya, dan akan sangat besar jika prediksi jauh dari nilai yang seharusnya. Setelah semua loss dihitung untuk setiap data, barulah nilai cost function dapat diperoleh sebagai rata-rata dari hasil perhitungan seluruh loss tersebut.</a:t>
            </a:r>
          </a:p>
        </p:txBody>
      </p:sp>
      <p:sp>
        <p:nvSpPr>
          <p:cNvPr name="Freeform 25" id="25"/>
          <p:cNvSpPr/>
          <p:nvPr/>
        </p:nvSpPr>
        <p:spPr>
          <a:xfrm flipH="false" flipV="false" rot="0">
            <a:off x="4375884" y="7007316"/>
            <a:ext cx="8534779" cy="791028"/>
          </a:xfrm>
          <a:custGeom>
            <a:avLst/>
            <a:gdLst/>
            <a:ahLst/>
            <a:cxnLst/>
            <a:rect r="r" b="b" t="t" l="l"/>
            <a:pathLst>
              <a:path h="791028" w="8534779">
                <a:moveTo>
                  <a:pt x="0" y="0"/>
                </a:moveTo>
                <a:lnTo>
                  <a:pt x="8534779" y="0"/>
                </a:lnTo>
                <a:lnTo>
                  <a:pt x="8534779" y="791028"/>
                </a:lnTo>
                <a:lnTo>
                  <a:pt x="0" y="791028"/>
                </a:lnTo>
                <a:lnTo>
                  <a:pt x="0" y="0"/>
                </a:lnTo>
                <a:close/>
              </a:path>
            </a:pathLst>
          </a:custGeom>
          <a:blipFill>
            <a:blip r:embed="rId6"/>
            <a:stretch>
              <a:fillRect l="0" t="0" r="0" b="0"/>
            </a:stretch>
          </a:blipFill>
        </p:spPr>
      </p:sp>
      <p:sp>
        <p:nvSpPr>
          <p:cNvPr name="TextBox 26" id="26"/>
          <p:cNvSpPr txBox="true"/>
          <p:nvPr/>
        </p:nvSpPr>
        <p:spPr>
          <a:xfrm rot="0">
            <a:off x="1345181" y="2053846"/>
            <a:ext cx="15531948" cy="1253490"/>
          </a:xfrm>
          <a:prstGeom prst="rect">
            <a:avLst/>
          </a:prstGeom>
        </p:spPr>
        <p:txBody>
          <a:bodyPr anchor="t" rtlCol="false" tIns="0" lIns="0" bIns="0" rIns="0">
            <a:spAutoFit/>
          </a:bodyPr>
          <a:lstStyle/>
          <a:p>
            <a:pPr algn="just">
              <a:lnSpc>
                <a:spcPts val="3359"/>
              </a:lnSpc>
              <a:spcBef>
                <a:spcPct val="0"/>
              </a:spcBef>
            </a:pPr>
            <a:r>
              <a:rPr lang="en-US" sz="2399">
                <a:solidFill>
                  <a:srgbClr val="FFFFFF"/>
                </a:solidFill>
                <a:latin typeface="Tomorrow"/>
                <a:ea typeface="Tomorrow"/>
                <a:cs typeface="Tomorrow"/>
                <a:sym typeface="Tomorrow"/>
              </a:rPr>
              <a:t>       </a:t>
            </a:r>
            <a:r>
              <a:rPr lang="en-US" sz="2399">
                <a:solidFill>
                  <a:srgbClr val="FFFFFF"/>
                </a:solidFill>
                <a:latin typeface="Tomorrow"/>
                <a:ea typeface="Tomorrow"/>
                <a:cs typeface="Tomorrow"/>
                <a:sym typeface="Tomorrow"/>
              </a:rPr>
              <a:t>Cost function adalah sebuah fungsi yang digunakan untuk mengukur seberapa besar kesalahan model secara keseluruhan saat melakukan prediksi. Fungsi ini bekerja dengan menghitung rata-rata dari semua kesalahan yang terjadi pada setiap data dalam dataset. Rumus cost function pada logistic regression yaitu:</a:t>
            </a:r>
          </a:p>
        </p:txBody>
      </p:sp>
    </p:spTree>
  </p:cSld>
  <p:clrMapOvr>
    <a:masterClrMapping/>
  </p:clrMapOvr>
  <p:transition spd="slow">
    <p:circl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6626227" y="2817482"/>
            <a:ext cx="10335744" cy="5660300"/>
            <a:chOff x="0" y="0"/>
            <a:chExt cx="2722171" cy="1490779"/>
          </a:xfrm>
        </p:grpSpPr>
        <p:sp>
          <p:nvSpPr>
            <p:cNvPr name="Freeform 4" id="4"/>
            <p:cNvSpPr/>
            <p:nvPr/>
          </p:nvSpPr>
          <p:spPr>
            <a:xfrm flipH="false" flipV="false" rot="0">
              <a:off x="0" y="0"/>
              <a:ext cx="2722171" cy="1490779"/>
            </a:xfrm>
            <a:custGeom>
              <a:avLst/>
              <a:gdLst/>
              <a:ahLst/>
              <a:cxnLst/>
              <a:rect r="r" b="b" t="t" l="l"/>
              <a:pathLst>
                <a:path h="1490779" w="2722171">
                  <a:moveTo>
                    <a:pt x="0" y="0"/>
                  </a:moveTo>
                  <a:lnTo>
                    <a:pt x="2722171" y="0"/>
                  </a:lnTo>
                  <a:lnTo>
                    <a:pt x="2722171" y="1490779"/>
                  </a:lnTo>
                  <a:lnTo>
                    <a:pt x="0" y="1490779"/>
                  </a:lnTo>
                  <a:close/>
                </a:path>
              </a:pathLst>
            </a:custGeom>
            <a:solidFill>
              <a:srgbClr val="FFFFFF">
                <a:alpha val="10980"/>
              </a:srgbClr>
            </a:solidFill>
          </p:spPr>
        </p:sp>
        <p:sp>
          <p:nvSpPr>
            <p:cNvPr name="TextBox 5" id="5"/>
            <p:cNvSpPr txBox="true"/>
            <p:nvPr/>
          </p:nvSpPr>
          <p:spPr>
            <a:xfrm>
              <a:off x="0" y="-47625"/>
              <a:ext cx="2722171" cy="1538404"/>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35779" y="7073027"/>
            <a:ext cx="6304504" cy="3522642"/>
          </a:xfrm>
          <a:custGeom>
            <a:avLst/>
            <a:gdLst/>
            <a:ahLst/>
            <a:cxnLst/>
            <a:rect r="r" b="b" t="t" l="l"/>
            <a:pathLst>
              <a:path h="3522642" w="6304504">
                <a:moveTo>
                  <a:pt x="0" y="0"/>
                </a:moveTo>
                <a:lnTo>
                  <a:pt x="6304504" y="0"/>
                </a:lnTo>
                <a:lnTo>
                  <a:pt x="6304504" y="3522642"/>
                </a:lnTo>
                <a:lnTo>
                  <a:pt x="0" y="3522642"/>
                </a:lnTo>
                <a:lnTo>
                  <a:pt x="0" y="0"/>
                </a:lnTo>
                <a:close/>
              </a:path>
            </a:pathLst>
          </a:custGeom>
          <a:blipFill>
            <a:blip r:embed="rId3"/>
            <a:stretch>
              <a:fillRect l="0" t="0" r="0" b="0"/>
            </a:stretch>
          </a:blipFill>
        </p:spPr>
      </p:sp>
      <p:sp>
        <p:nvSpPr>
          <p:cNvPr name="Freeform 7" id="7"/>
          <p:cNvSpPr/>
          <p:nvPr/>
        </p:nvSpPr>
        <p:spPr>
          <a:xfrm flipH="false" flipV="false" rot="0">
            <a:off x="890808" y="3295474"/>
            <a:ext cx="5273292" cy="4704316"/>
          </a:xfrm>
          <a:custGeom>
            <a:avLst/>
            <a:gdLst/>
            <a:ahLst/>
            <a:cxnLst/>
            <a:rect r="r" b="b" t="t" l="l"/>
            <a:pathLst>
              <a:path h="4704316" w="5273292">
                <a:moveTo>
                  <a:pt x="0" y="0"/>
                </a:moveTo>
                <a:lnTo>
                  <a:pt x="5273292" y="0"/>
                </a:lnTo>
                <a:lnTo>
                  <a:pt x="5273292" y="4704316"/>
                </a:lnTo>
                <a:lnTo>
                  <a:pt x="0" y="47043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5400000">
            <a:off x="16721788" y="7136129"/>
            <a:ext cx="544528" cy="530497"/>
            <a:chOff x="0" y="0"/>
            <a:chExt cx="156117" cy="152094"/>
          </a:xfrm>
        </p:grpSpPr>
        <p:sp>
          <p:nvSpPr>
            <p:cNvPr name="Freeform 9" id="9"/>
            <p:cNvSpPr/>
            <p:nvPr/>
          </p:nvSpPr>
          <p:spPr>
            <a:xfrm flipH="false" flipV="false" rot="0">
              <a:off x="0" y="0"/>
              <a:ext cx="156117" cy="152094"/>
            </a:xfrm>
            <a:custGeom>
              <a:avLst/>
              <a:gdLst/>
              <a:ahLst/>
              <a:cxnLst/>
              <a:rect r="r" b="b" t="t" l="l"/>
              <a:pathLst>
                <a:path h="152094" w="156117">
                  <a:moveTo>
                    <a:pt x="0" y="0"/>
                  </a:moveTo>
                  <a:lnTo>
                    <a:pt x="156117" y="0"/>
                  </a:lnTo>
                  <a:lnTo>
                    <a:pt x="156117" y="152094"/>
                  </a:lnTo>
                  <a:lnTo>
                    <a:pt x="0" y="152094"/>
                  </a:lnTo>
                  <a:close/>
                </a:path>
              </a:pathLst>
            </a:custGeom>
            <a:solidFill>
              <a:srgbClr val="0054C5"/>
            </a:solidFill>
          </p:spPr>
        </p:sp>
        <p:sp>
          <p:nvSpPr>
            <p:cNvPr name="TextBox 10" id="10"/>
            <p:cNvSpPr txBox="true"/>
            <p:nvPr/>
          </p:nvSpPr>
          <p:spPr>
            <a:xfrm>
              <a:off x="0" y="-47625"/>
              <a:ext cx="156117" cy="19971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5400000">
            <a:off x="17429611" y="7877361"/>
            <a:ext cx="427597" cy="438623"/>
            <a:chOff x="0" y="0"/>
            <a:chExt cx="122593" cy="125754"/>
          </a:xfrm>
        </p:grpSpPr>
        <p:sp>
          <p:nvSpPr>
            <p:cNvPr name="Freeform 12" id="12"/>
            <p:cNvSpPr/>
            <p:nvPr/>
          </p:nvSpPr>
          <p:spPr>
            <a:xfrm flipH="false" flipV="false" rot="0">
              <a:off x="0" y="0"/>
              <a:ext cx="122593" cy="125754"/>
            </a:xfrm>
            <a:custGeom>
              <a:avLst/>
              <a:gdLst/>
              <a:ahLst/>
              <a:cxnLst/>
              <a:rect r="r" b="b" t="t" l="l"/>
              <a:pathLst>
                <a:path h="125754" w="122593">
                  <a:moveTo>
                    <a:pt x="0" y="0"/>
                  </a:moveTo>
                  <a:lnTo>
                    <a:pt x="122593" y="0"/>
                  </a:lnTo>
                  <a:lnTo>
                    <a:pt x="122593" y="125754"/>
                  </a:lnTo>
                  <a:lnTo>
                    <a:pt x="0" y="125754"/>
                  </a:lnTo>
                  <a:close/>
                </a:path>
              </a:pathLst>
            </a:custGeom>
            <a:solidFill>
              <a:srgbClr val="0054C5"/>
            </a:solidFill>
          </p:spPr>
        </p:sp>
        <p:sp>
          <p:nvSpPr>
            <p:cNvPr name="TextBox 13" id="13"/>
            <p:cNvSpPr txBox="true"/>
            <p:nvPr/>
          </p:nvSpPr>
          <p:spPr>
            <a:xfrm>
              <a:off x="0" y="-47625"/>
              <a:ext cx="122593" cy="173379"/>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5400000">
            <a:off x="16419142" y="8311975"/>
            <a:ext cx="311166" cy="308157"/>
            <a:chOff x="0" y="0"/>
            <a:chExt cx="89212" cy="88349"/>
          </a:xfrm>
        </p:grpSpPr>
        <p:sp>
          <p:nvSpPr>
            <p:cNvPr name="Freeform 15" id="15"/>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16" id="16"/>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5400000">
            <a:off x="7650336" y="3710081"/>
            <a:ext cx="311166" cy="308157"/>
            <a:chOff x="0" y="0"/>
            <a:chExt cx="89212" cy="88349"/>
          </a:xfrm>
        </p:grpSpPr>
        <p:sp>
          <p:nvSpPr>
            <p:cNvPr name="Freeform 18" id="18"/>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19" id="19"/>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5400000">
            <a:off x="7958493" y="4796599"/>
            <a:ext cx="311166" cy="308157"/>
            <a:chOff x="0" y="0"/>
            <a:chExt cx="89212" cy="88349"/>
          </a:xfrm>
        </p:grpSpPr>
        <p:sp>
          <p:nvSpPr>
            <p:cNvPr name="Freeform 21" id="21"/>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22" id="22"/>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5400000">
            <a:off x="7200821" y="4408923"/>
            <a:ext cx="311166" cy="308157"/>
            <a:chOff x="0" y="0"/>
            <a:chExt cx="89212" cy="88349"/>
          </a:xfrm>
        </p:grpSpPr>
        <p:sp>
          <p:nvSpPr>
            <p:cNvPr name="Freeform 24" id="24"/>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25" id="25"/>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7202325" y="1704443"/>
            <a:ext cx="9187057" cy="880127"/>
          </a:xfrm>
          <a:prstGeom prst="rect">
            <a:avLst/>
          </a:prstGeom>
        </p:spPr>
        <p:txBody>
          <a:bodyPr anchor="t" rtlCol="false" tIns="0" lIns="0" bIns="0" rIns="0">
            <a:spAutoFit/>
          </a:bodyPr>
          <a:lstStyle/>
          <a:p>
            <a:pPr algn="ctr" marL="0" indent="0" lvl="0">
              <a:lnSpc>
                <a:spcPts val="7139"/>
              </a:lnSpc>
              <a:spcBef>
                <a:spcPct val="0"/>
              </a:spcBef>
            </a:pPr>
            <a:r>
              <a:rPr lang="en-US" b="true" sz="5099">
                <a:solidFill>
                  <a:srgbClr val="FFFFFF"/>
                </a:solidFill>
                <a:latin typeface="Tomorrow Bold"/>
                <a:ea typeface="Tomorrow Bold"/>
                <a:cs typeface="Tomorrow Bold"/>
                <a:sym typeface="Tomorrow Bold"/>
              </a:rPr>
              <a:t>Kesimpulan</a:t>
            </a:r>
          </a:p>
        </p:txBody>
      </p:sp>
      <p:sp>
        <p:nvSpPr>
          <p:cNvPr name="TextBox 27" id="27"/>
          <p:cNvSpPr txBox="true"/>
          <p:nvPr/>
        </p:nvSpPr>
        <p:spPr>
          <a:xfrm rot="0">
            <a:off x="7055613" y="3189333"/>
            <a:ext cx="9424126" cy="5195456"/>
          </a:xfrm>
          <a:prstGeom prst="rect">
            <a:avLst/>
          </a:prstGeom>
        </p:spPr>
        <p:txBody>
          <a:bodyPr anchor="t" rtlCol="false" tIns="0" lIns="0" bIns="0" rIns="0">
            <a:spAutoFit/>
          </a:bodyPr>
          <a:lstStyle/>
          <a:p>
            <a:pPr algn="just" marL="453390" indent="-226695" lvl="1">
              <a:lnSpc>
                <a:spcPts val="2940"/>
              </a:lnSpc>
              <a:buFont typeface="Arial"/>
              <a:buChar char="•"/>
            </a:pPr>
            <a:r>
              <a:rPr lang="en-US" sz="2100">
                <a:solidFill>
                  <a:srgbClr val="FFFFFF"/>
                </a:solidFill>
                <a:latin typeface="Tomorrow"/>
                <a:ea typeface="Tomorrow"/>
                <a:cs typeface="Tomorrow"/>
                <a:sym typeface="Tomorrow"/>
              </a:rPr>
              <a:t>Logistic Regression mampu memprediksi hasil biner seperti “ya atau tidak” dengan menganalisis hubungan antara variabel risiko dan variabel klinis.</a:t>
            </a:r>
          </a:p>
          <a:p>
            <a:pPr algn="just" marL="453390" indent="-226695" lvl="1">
              <a:lnSpc>
                <a:spcPts val="2940"/>
              </a:lnSpc>
              <a:buFont typeface="Arial"/>
              <a:buChar char="•"/>
            </a:pPr>
            <a:r>
              <a:rPr lang="en-US" sz="2100">
                <a:solidFill>
                  <a:srgbClr val="FFFFFF"/>
                </a:solidFill>
                <a:latin typeface="Tomorrow"/>
                <a:ea typeface="Tomorrow"/>
                <a:cs typeface="Tomorrow"/>
                <a:sym typeface="Tomorrow"/>
              </a:rPr>
              <a:t>Dalam studi kasus prediksi penyakit diabetes, model ini digunakan untuk menentukan apakah seseorang berisiko diabetes (Diagnose = 1) atau tidak (Diagnose = 0).</a:t>
            </a:r>
          </a:p>
          <a:p>
            <a:pPr algn="just" marL="453390" indent="-226695" lvl="1">
              <a:lnSpc>
                <a:spcPts val="2940"/>
              </a:lnSpc>
              <a:buFont typeface="Arial"/>
              <a:buChar char="•"/>
            </a:pPr>
            <a:r>
              <a:rPr lang="en-US" sz="2100">
                <a:solidFill>
                  <a:srgbClr val="FFFFFF"/>
                </a:solidFill>
                <a:latin typeface="Tomorrow"/>
                <a:ea typeface="Tomorrow"/>
                <a:cs typeface="Tomorrow"/>
                <a:sym typeface="Tomorrow"/>
              </a:rPr>
              <a:t>Model dilatih menggunakan dataset kesehatan (BMI, Glucose, BloodPressure, Cholesterol, Age, dsb.) dengan pembagian data train, validation, dan test.</a:t>
            </a:r>
          </a:p>
          <a:p>
            <a:pPr algn="just" marL="453390" indent="-226695" lvl="1">
              <a:lnSpc>
                <a:spcPts val="2940"/>
              </a:lnSpc>
              <a:buFont typeface="Arial"/>
              <a:buChar char="•"/>
            </a:pPr>
            <a:r>
              <a:rPr lang="en-US" sz="2100">
                <a:solidFill>
                  <a:srgbClr val="FFFFFF"/>
                </a:solidFill>
                <a:latin typeface="Tomorrow"/>
                <a:ea typeface="Tomorrow"/>
                <a:cs typeface="Tomorrow"/>
                <a:sym typeface="Tomorrow"/>
              </a:rPr>
              <a:t>Hasil evaluasi menunjukkan bahwa model memiliki akurasi tinggi, mampu mengenali pola dari data kesehatan secara efektif.</a:t>
            </a:r>
          </a:p>
          <a:p>
            <a:pPr algn="just" marL="453390" indent="-226695" lvl="1">
              <a:lnSpc>
                <a:spcPts val="2940"/>
              </a:lnSpc>
              <a:buFont typeface="Arial"/>
              <a:buChar char="•"/>
            </a:pPr>
            <a:r>
              <a:rPr lang="en-US" sz="2100">
                <a:solidFill>
                  <a:srgbClr val="FFFFFF"/>
                </a:solidFill>
                <a:latin typeface="Tomorrow"/>
                <a:ea typeface="Tomorrow"/>
                <a:cs typeface="Tomorrow"/>
                <a:sym typeface="Tomorrow"/>
              </a:rPr>
              <a:t>Logistic Regression terbukti menjadi metode yang sederhana, cepat, dan akurat untuk deteksi dini penyakit berbasis data.</a:t>
            </a:r>
          </a:p>
          <a:p>
            <a:pPr algn="just">
              <a:lnSpc>
                <a:spcPts val="2940"/>
              </a:lnSpc>
            </a:pPr>
          </a:p>
        </p:txBody>
      </p:sp>
    </p:spTree>
  </p:cSld>
  <p:clrMapOvr>
    <a:masterClrMapping/>
  </p:clrMapOvr>
  <p:transition spd="slow">
    <p:cover dir="l"/>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7307883" y="1762898"/>
            <a:ext cx="9951417" cy="7306675"/>
            <a:chOff x="0" y="0"/>
            <a:chExt cx="2620949" cy="1924392"/>
          </a:xfrm>
        </p:grpSpPr>
        <p:sp>
          <p:nvSpPr>
            <p:cNvPr name="Freeform 4" id="4"/>
            <p:cNvSpPr/>
            <p:nvPr/>
          </p:nvSpPr>
          <p:spPr>
            <a:xfrm flipH="false" flipV="false" rot="0">
              <a:off x="0" y="0"/>
              <a:ext cx="2620949" cy="1924392"/>
            </a:xfrm>
            <a:custGeom>
              <a:avLst/>
              <a:gdLst/>
              <a:ahLst/>
              <a:cxnLst/>
              <a:rect r="r" b="b" t="t" l="l"/>
              <a:pathLst>
                <a:path h="1924392" w="2620949">
                  <a:moveTo>
                    <a:pt x="0" y="0"/>
                  </a:moveTo>
                  <a:lnTo>
                    <a:pt x="2620949" y="0"/>
                  </a:lnTo>
                  <a:lnTo>
                    <a:pt x="2620949" y="1924392"/>
                  </a:lnTo>
                  <a:lnTo>
                    <a:pt x="0" y="1924392"/>
                  </a:lnTo>
                  <a:close/>
                </a:path>
              </a:pathLst>
            </a:custGeom>
            <a:solidFill>
              <a:srgbClr val="FFFFFF">
                <a:alpha val="10980"/>
              </a:srgbClr>
            </a:solidFill>
          </p:spPr>
        </p:sp>
        <p:sp>
          <p:nvSpPr>
            <p:cNvPr name="TextBox 5" id="5"/>
            <p:cNvSpPr txBox="true"/>
            <p:nvPr/>
          </p:nvSpPr>
          <p:spPr>
            <a:xfrm>
              <a:off x="0" y="-47625"/>
              <a:ext cx="2620949" cy="1972017"/>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false" rot="-10800000">
            <a:off x="-665027" y="-732621"/>
            <a:ext cx="6304504" cy="3522642"/>
          </a:xfrm>
          <a:custGeom>
            <a:avLst/>
            <a:gdLst/>
            <a:ahLst/>
            <a:cxnLst/>
            <a:rect r="r" b="b" t="t" l="l"/>
            <a:pathLst>
              <a:path h="3522642" w="6304504">
                <a:moveTo>
                  <a:pt x="6304504" y="0"/>
                </a:moveTo>
                <a:lnTo>
                  <a:pt x="0" y="0"/>
                </a:lnTo>
                <a:lnTo>
                  <a:pt x="0" y="3522642"/>
                </a:lnTo>
                <a:lnTo>
                  <a:pt x="6304504" y="3522642"/>
                </a:lnTo>
                <a:lnTo>
                  <a:pt x="6304504" y="0"/>
                </a:lnTo>
                <a:close/>
              </a:path>
            </a:pathLst>
          </a:custGeom>
          <a:blipFill>
            <a:blip r:embed="rId3"/>
            <a:stretch>
              <a:fillRect l="0" t="0" r="0" b="0"/>
            </a:stretch>
          </a:blipFill>
        </p:spPr>
      </p:sp>
      <p:sp>
        <p:nvSpPr>
          <p:cNvPr name="Freeform 7" id="7"/>
          <p:cNvSpPr/>
          <p:nvPr/>
        </p:nvSpPr>
        <p:spPr>
          <a:xfrm flipH="false" flipV="false" rot="0">
            <a:off x="615110" y="4431004"/>
            <a:ext cx="5514422" cy="4638569"/>
          </a:xfrm>
          <a:custGeom>
            <a:avLst/>
            <a:gdLst/>
            <a:ahLst/>
            <a:cxnLst/>
            <a:rect r="r" b="b" t="t" l="l"/>
            <a:pathLst>
              <a:path h="4638569" w="5514422">
                <a:moveTo>
                  <a:pt x="0" y="0"/>
                </a:moveTo>
                <a:lnTo>
                  <a:pt x="5514422" y="0"/>
                </a:lnTo>
                <a:lnTo>
                  <a:pt x="5514422" y="4638569"/>
                </a:lnTo>
                <a:lnTo>
                  <a:pt x="0" y="46385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8512220" y="4651049"/>
            <a:ext cx="7542744" cy="880127"/>
          </a:xfrm>
          <a:prstGeom prst="rect">
            <a:avLst/>
          </a:prstGeom>
        </p:spPr>
        <p:txBody>
          <a:bodyPr anchor="t" rtlCol="false" tIns="0" lIns="0" bIns="0" rIns="0">
            <a:spAutoFit/>
          </a:bodyPr>
          <a:lstStyle/>
          <a:p>
            <a:pPr algn="ctr" marL="0" indent="0" lvl="0">
              <a:lnSpc>
                <a:spcPts val="7139"/>
              </a:lnSpc>
              <a:spcBef>
                <a:spcPct val="0"/>
              </a:spcBef>
            </a:pPr>
            <a:r>
              <a:rPr lang="en-US" b="true" sz="5099">
                <a:solidFill>
                  <a:srgbClr val="FFFFFF"/>
                </a:solidFill>
                <a:latin typeface="Tomorrow Bold"/>
                <a:ea typeface="Tomorrow Bold"/>
                <a:cs typeface="Tomorrow Bold"/>
                <a:sym typeface="Tomorrow Bold"/>
              </a:rPr>
              <a:t>TERIMAKASIH</a:t>
            </a:r>
          </a:p>
        </p:txBody>
      </p:sp>
      <p:grpSp>
        <p:nvGrpSpPr>
          <p:cNvPr name="Group 9" id="9"/>
          <p:cNvGrpSpPr/>
          <p:nvPr/>
        </p:nvGrpSpPr>
        <p:grpSpPr>
          <a:xfrm rot="-5400000">
            <a:off x="6139221" y="3290237"/>
            <a:ext cx="686516" cy="705894"/>
            <a:chOff x="0" y="0"/>
            <a:chExt cx="196825" cy="202381"/>
          </a:xfrm>
        </p:grpSpPr>
        <p:sp>
          <p:nvSpPr>
            <p:cNvPr name="Freeform 10" id="10"/>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11" id="11"/>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5400000">
            <a:off x="7083521" y="2507921"/>
            <a:ext cx="575234" cy="520425"/>
            <a:chOff x="0" y="0"/>
            <a:chExt cx="164921" cy="149207"/>
          </a:xfrm>
        </p:grpSpPr>
        <p:sp>
          <p:nvSpPr>
            <p:cNvPr name="Freeform 13" id="13"/>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4" id="14"/>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5400000">
            <a:off x="7531346" y="3856024"/>
            <a:ext cx="284953" cy="274803"/>
            <a:chOff x="0" y="0"/>
            <a:chExt cx="81697" cy="78786"/>
          </a:xfrm>
        </p:grpSpPr>
        <p:sp>
          <p:nvSpPr>
            <p:cNvPr name="Freeform 16" id="16"/>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7" id="17"/>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5400000">
            <a:off x="17116823" y="7881739"/>
            <a:ext cx="284953" cy="274803"/>
            <a:chOff x="0" y="0"/>
            <a:chExt cx="81697" cy="78786"/>
          </a:xfrm>
        </p:grpSpPr>
        <p:sp>
          <p:nvSpPr>
            <p:cNvPr name="Freeform 19" id="19"/>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0" id="20"/>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5400000">
            <a:off x="16383171" y="8506938"/>
            <a:ext cx="284953" cy="274803"/>
            <a:chOff x="0" y="0"/>
            <a:chExt cx="81697" cy="78786"/>
          </a:xfrm>
        </p:grpSpPr>
        <p:sp>
          <p:nvSpPr>
            <p:cNvPr name="Freeform 22" id="22"/>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3" id="23"/>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Tree>
  </p:cSld>
  <p:clrMapOvr>
    <a:masterClrMapping/>
  </p:clrMapOvr>
  <p:transition spd="slow">
    <p:cover dir="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DAG5yyZBpCQ</dc:identifier>
  <dcterms:modified xsi:type="dcterms:W3CDTF">2011-08-01T06:04:30Z</dcterms:modified>
  <cp:revision>1</cp:revision>
  <dc:title>Teori Logistik Regression-DataScience 5A</dc:title>
</cp:coreProperties>
</file>